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2160"/>
        <p:guide pos="3840"/>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A5B331-8C10-48EC-B61F-E68A36BD6734}" type="datetimeFigureOut">
              <a:rPr lang="en-IN" smtClean="0"/>
              <a:t>18-10-2026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1A9E94-3E81-4229-A0ED-A5BE61289E40}" type="slidenum">
              <a:rPr lang="en-IN" smtClean="0"/>
              <a:t>‹#›</a:t>
            </a:fld>
            <a:endParaRPr lang="en-IN"/>
          </a:p>
        </p:txBody>
      </p:sp>
    </p:spTree>
    <p:extLst>
      <p:ext uri="{BB962C8B-B14F-4D97-AF65-F5344CB8AC3E}">
        <p14:creationId xmlns:p14="http://schemas.microsoft.com/office/powerpoint/2010/main" val="38772918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Opening (25 seconds): We are Straw Hat Pirates: Kartik Verma, Kushal Soni, Bhavana Suthar and Kanav Trivedi. Udyam Saathi helps people submit business ideas as text, PDF or supported regional-language audio. It turns the input into structured, source-linked evidence for a first-level assessment and a useful next question. Human assessors retain the decision.</a:t>
            </a:r>
          </a:p>
          <a:p>
            <a:r>
              <a:rPr lang="en-IN"/>
              <a:t>Project evidence: planning/SESSION_HANDOFF.md and models/PROVENANCE.md. Original organizer template: CO PPT.pptx. Preserve its branding. No team photo was supplied; no photograph or team role is invented.</a:t>
            </a:r>
          </a:p>
        </p:txBody>
      </p:sp>
      <p:sp>
        <p:nvSpPr>
          <p:cNvPr id="4" name="Slide Number Placeholder 3"/>
          <p:cNvSpPr>
            <a:spLocks noGrp="1"/>
          </p:cNvSpPr>
          <p:nvPr>
            <p:ph type="sldNum" sz="quarter" idx="5"/>
          </p:nvPr>
        </p:nvSpPr>
        <p:spPr/>
        <p:txBody>
          <a:bodyPr/>
          <a:lstStyle/>
          <a:p>
            <a:fld id="{CC1A9E94-3E81-4229-A0ED-A5BE61289E40}" type="slidenum">
              <a:rPr lang="en-IN" smtClean="0"/>
              <a:t>1</a:t>
            </a:fld>
            <a:endParaRPr lang="en-IN"/>
          </a:p>
        </p:txBody>
      </p:sp>
    </p:spTree>
    <p:extLst>
      <p:ext uri="{BB962C8B-B14F-4D97-AF65-F5344CB8AC3E}">
        <p14:creationId xmlns:p14="http://schemas.microsoft.com/office/powerpoint/2010/main" val="11251450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Problem (30 seconds): A person may describe an idea clearly in a recording while leaving an investment field blank on paper. An assessor must recover the meaning, separate revenue from profit, detect inconsistencies and compare ideas consistently. A polished answer is not automatically a stronger business. Our proposed workflow makes evidence and unknowns visible instead of guessing missing facts.</a:t>
            </a:r>
          </a:p>
          <a:p>
            <a:r>
              <a:rPr lang="en-US"/>
              <a:t>Source: planning/HACKATHON_RESET.md, organizer problem-statement summary, and domain/scoring.py. Benefits are intended benefits, not measured assessor-time improvements.</a:t>
            </a:r>
            <a:endParaRPr lang="en-IN"/>
          </a:p>
        </p:txBody>
      </p:sp>
      <p:sp>
        <p:nvSpPr>
          <p:cNvPr id="4" name="Slide Number Placeholder 3"/>
          <p:cNvSpPr>
            <a:spLocks noGrp="1"/>
          </p:cNvSpPr>
          <p:nvPr>
            <p:ph type="sldNum" sz="quarter" idx="5"/>
          </p:nvPr>
        </p:nvSpPr>
        <p:spPr/>
        <p:txBody>
          <a:bodyPr/>
          <a:lstStyle/>
          <a:p>
            <a:fld id="{CC1A9E94-3E81-4229-A0ED-A5BE61289E40}" type="slidenum">
              <a:rPr lang="en-IN" smtClean="0"/>
              <a:t>2</a:t>
            </a:fld>
            <a:endParaRPr lang="en-IN"/>
          </a:p>
        </p:txBody>
      </p:sp>
    </p:spTree>
    <p:extLst>
      <p:ext uri="{BB962C8B-B14F-4D97-AF65-F5344CB8AC3E}">
        <p14:creationId xmlns:p14="http://schemas.microsoft.com/office/powerpoint/2010/main" val="150255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Solution (40 seconds): The guided interview is optional. Text, PDF and audio all enter the same versioned processing workflow. The saved assessment separates business potential, evidence coverage and information completeness. A missing value stays missing. A conflict preserves its alternatives and source references. Up to three prioritized questions help create a linked revision. Assessors can review or correct the source while preserving earlier versions.</a:t>
            </a:r>
          </a:p>
          <a:p>
            <a:r>
              <a:rPr lang="en-US"/>
              <a:t>Screenshot: .local/product-ui-3c9d9d9987e149f09495b163cac21c68/evidence-radar-desktop-dark.png. This is an actual local browser screenshot using synthetic Auth/model/vector fixtures and a real local API/PostgreSQL; it does not establish model quality. Sources: evals/reports/product-ui.json and apps/api/app/domain/questions.py.</a:t>
            </a:r>
            <a:endParaRPr lang="en-IN"/>
          </a:p>
        </p:txBody>
      </p:sp>
      <p:sp>
        <p:nvSpPr>
          <p:cNvPr id="4" name="Slide Number Placeholder 3"/>
          <p:cNvSpPr>
            <a:spLocks noGrp="1"/>
          </p:cNvSpPr>
          <p:nvPr>
            <p:ph type="sldNum" sz="quarter" idx="5"/>
          </p:nvPr>
        </p:nvSpPr>
        <p:spPr/>
        <p:txBody>
          <a:bodyPr/>
          <a:lstStyle/>
          <a:p>
            <a:fld id="{CC1A9E94-3E81-4229-A0ED-A5BE61289E40}" type="slidenum">
              <a:rPr lang="en-IN" smtClean="0"/>
              <a:t>3</a:t>
            </a:fld>
            <a:endParaRPr lang="en-IN"/>
          </a:p>
        </p:txBody>
      </p:sp>
    </p:spTree>
    <p:extLst>
      <p:ext uri="{BB962C8B-B14F-4D97-AF65-F5344CB8AC3E}">
        <p14:creationId xmlns:p14="http://schemas.microsoft.com/office/powerpoint/2010/main" val="671813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Stack (35 seconds): React and TypeScript provide the browser interface. FastAPI validates requests and coordinates jobs. Supabase is the one application database, authentication and private-storage service. pgvector retrieves accessible related submissions. The owned worker runs pinned third-party pretrained models: Qwen3-VL-2B-Instruct, PaddleOCR-VL-1.5, Whisper large-v3-turbo, a separately selected Vaani Odia Whisper, NLLB-200-distilled-600M and all-MiniLM-L6-v2. We did not train those foundation models. Groq is optional explanation only, and OpenStreetMap supplies bounded confirmed-area context. Neither optional feature replaces the core score.</a:t>
            </a:r>
          </a:p>
          <a:p>
            <a:r>
              <a:rPr lang="en-IN"/>
              <a:t>Sources: models/manifest.json, models/PROVENANCE.md, apps/api/app/worker/manifest.py. Upstream model cards: https://huggingface.co/Qwen/Qwen3-VL-2B-Instruct ; https://huggingface.co/PaddlePaddle/PaddleOCR-VL-1.5 ; https://huggingface.co/openai/whisper-large-v3-turbo ; https://huggingface.co/facebook/nllb-200-distilled-600M ; https://huggingface.co/sentence-transformers/all-MiniLM-L6-v2 . NLLB limits this selection to a research/noncommercial prototype; it is not a commercially licensed configuration.</a:t>
            </a:r>
          </a:p>
        </p:txBody>
      </p:sp>
      <p:sp>
        <p:nvSpPr>
          <p:cNvPr id="4" name="Slide Number Placeholder 3"/>
          <p:cNvSpPr>
            <a:spLocks noGrp="1"/>
          </p:cNvSpPr>
          <p:nvPr>
            <p:ph type="sldNum" sz="quarter" idx="5"/>
          </p:nvPr>
        </p:nvSpPr>
        <p:spPr/>
        <p:txBody>
          <a:bodyPr/>
          <a:lstStyle/>
          <a:p>
            <a:fld id="{CC1A9E94-3E81-4229-A0ED-A5BE61289E40}" type="slidenum">
              <a:rPr lang="en-IN" smtClean="0"/>
              <a:t>4</a:t>
            </a:fld>
            <a:endParaRPr lang="en-IN"/>
          </a:p>
        </p:txBody>
      </p:sp>
    </p:spTree>
    <p:extLst>
      <p:ext uri="{BB962C8B-B14F-4D97-AF65-F5344CB8AC3E}">
        <p14:creationId xmlns:p14="http://schemas.microsoft.com/office/powerpoint/2010/main" val="41232904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Approach (50 seconds): Four durable stages are extract, translate, structure and assess. Qwen proposes structured facts and judgments, but the application checks allowed types, source quotes, references and ratings. Deterministic scoring uses weights: clarity 15, customer need 20, market 20, feasibility 25, competition 10 and differentiation 10. Automated ratings are 0 to 3 on a 0 to 4 contract; therefore the current automated potential ceiling is 75/100. Missing or ambiguous evidence produces null rather than zero. Coverage below 70%, source-review flags, unresolved offer/customers or critical conflicts can withhold the headline. Ranking requires 100% coverage and an otherwise eligible headline. These are proposed rubric rules, not official sector standards or trained success probabilities.</a:t>
            </a:r>
          </a:p>
          <a:p>
            <a:r>
              <a:rPr lang="en-US"/>
              <a:t>Fallback: one JSON repair attempt, then an unassessed domain if the judgment remains invalid. Other required-stage failures remain visible; no automatic backup LLM is verified. Worker leases, fencing and checkpoints permit controlled recovery. Sources: apps/api/app/pipeline/assess.py, providers/local_models.py, domain/scoring.py and worker/runtime.py.</a:t>
            </a:r>
            <a:endParaRPr lang="en-IN"/>
          </a:p>
        </p:txBody>
      </p:sp>
      <p:sp>
        <p:nvSpPr>
          <p:cNvPr id="4" name="Slide Number Placeholder 3"/>
          <p:cNvSpPr>
            <a:spLocks noGrp="1"/>
          </p:cNvSpPr>
          <p:nvPr>
            <p:ph type="sldNum" sz="quarter" idx="5"/>
          </p:nvPr>
        </p:nvSpPr>
        <p:spPr/>
        <p:txBody>
          <a:bodyPr/>
          <a:lstStyle/>
          <a:p>
            <a:fld id="{CC1A9E94-3E81-4229-A0ED-A5BE61289E40}" type="slidenum">
              <a:rPr lang="en-IN" smtClean="0"/>
              <a:t>5</a:t>
            </a:fld>
            <a:endParaRPr lang="en-IN"/>
          </a:p>
        </p:txBody>
      </p:sp>
    </p:spTree>
    <p:extLst>
      <p:ext uri="{BB962C8B-B14F-4D97-AF65-F5344CB8AC3E}">
        <p14:creationId xmlns:p14="http://schemas.microsoft.com/office/powerpoint/2010/main" val="11551783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Feasibility (45 seconds): Prior measured checks include 192 API tests and 15 local browser journeys. Browser Auth, model outputs and vectors are fixtures, while the local browser/API/PostgreSQL path is real. Separate actual owned-GPU inference passed three authored synthetic cases: positive 140.219 seconds, missing 88.109 seconds and conflicting 86.860 seconds. These are example-specific functional assertions, not population accuracy. Scan and regional-audio pipelines also have measured functional runs, with source-review limits retained.</a:t>
            </a:r>
          </a:p>
          <a:p>
            <a:r>
              <a:rPr lang="en-US"/>
              <a:t>Viability: core inference avoids a paid model API, but hardware, electricity, network, Supabase limits and optional provider quotas still constrain operation. The owned worker requires laptop uptime. Human transcript/translation accuracy, WER, retrieval Recall@5, fairness and impact remain unvalidated. NLLB has a noncommercial/research restriction. No public deployment claim is made.</a:t>
            </a:r>
          </a:p>
          <a:p>
            <a:r>
              <a:rPr lang="en-US"/>
              <a:t>Sources: planning/SESSION_HANDOFF.md, evals/reports/product-ui.json, evals/reports/judge-inference.json, models/PROVENANCE.md. These are existing measurements, not tests rerun for this presentation.</a:t>
            </a:r>
            <a:endParaRPr lang="en-IN"/>
          </a:p>
        </p:txBody>
      </p:sp>
      <p:sp>
        <p:nvSpPr>
          <p:cNvPr id="4" name="Slide Number Placeholder 3"/>
          <p:cNvSpPr>
            <a:spLocks noGrp="1"/>
          </p:cNvSpPr>
          <p:nvPr>
            <p:ph type="sldNum" sz="quarter" idx="5"/>
          </p:nvPr>
        </p:nvSpPr>
        <p:spPr/>
        <p:txBody>
          <a:bodyPr/>
          <a:lstStyle/>
          <a:p>
            <a:fld id="{CC1A9E94-3E81-4229-A0ED-A5BE61289E40}" type="slidenum">
              <a:rPr lang="en-IN" smtClean="0"/>
              <a:t>6</a:t>
            </a:fld>
            <a:endParaRPr lang="en-IN"/>
          </a:p>
        </p:txBody>
      </p:sp>
    </p:spTree>
    <p:extLst>
      <p:ext uri="{BB962C8B-B14F-4D97-AF65-F5344CB8AC3E}">
        <p14:creationId xmlns:p14="http://schemas.microsoft.com/office/powerpoint/2010/main" val="40976828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Benefits (40 seconds): Applicants can understand unknowns and improve a revision; assessors can inspect source evidence, related ideas, local context, versions and four comparison views. The planner lets a person test assumptions without changing the saved assessment. Demonstration assumptions are price INR 20, variable cost INR 8, 100 daily units, 25 operating days, fixed monthly cost INR 10,000 and startup INR 40,000. The operating surplus is INR 20,000. With 20% fewer sales, variable costs also fall and surplus is INR 14,000. Break-even is 834 units/month. This arithmetic is not verified demand, net profit or business survival.</a:t>
            </a:r>
          </a:p>
          <a:p>
            <a:r>
              <a:rPr lang="en-US"/>
              <a:t>Screenshot is from a local browser verification using synthetic inputs/providers, not beneficiary data. Source: .local/product-ui-3c9d9d9987e149f09495b163cac21c68/business-plan-desktop-dark.png, evals/reports/product-ui.json and the financial scenario module in apps/web/src. Impact is expected; time savings and real business outcomes have not been measured.</a:t>
            </a:r>
            <a:endParaRPr lang="en-IN"/>
          </a:p>
        </p:txBody>
      </p:sp>
      <p:sp>
        <p:nvSpPr>
          <p:cNvPr id="4" name="Slide Number Placeholder 3"/>
          <p:cNvSpPr>
            <a:spLocks noGrp="1"/>
          </p:cNvSpPr>
          <p:nvPr>
            <p:ph type="sldNum" sz="quarter" idx="5"/>
          </p:nvPr>
        </p:nvSpPr>
        <p:spPr/>
        <p:txBody>
          <a:bodyPr/>
          <a:lstStyle/>
          <a:p>
            <a:fld id="{CC1A9E94-3E81-4229-A0ED-A5BE61289E40}" type="slidenum">
              <a:rPr lang="en-IN" smtClean="0"/>
              <a:t>7</a:t>
            </a:fld>
            <a:endParaRPr lang="en-IN"/>
          </a:p>
        </p:txBody>
      </p:sp>
    </p:spTree>
    <p:extLst>
      <p:ext uri="{BB962C8B-B14F-4D97-AF65-F5344CB8AC3E}">
        <p14:creationId xmlns:p14="http://schemas.microsoft.com/office/powerpoint/2010/main" val="36364876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Conclusion (30 seconds): Our contribution is a traceable workflow around pretrained inference, covering private original inputs, validated evidence, deterministic totals, durable jobs, clarification revisions and assessor tools. We fitted a small relevance classifier but rejected promotion: 102 heuristic pairs, 98 relevant and 4 irrelevant, no independently reviewed labels and holdouts without irrelevant examples. Frozen MiniLM plus the advisory rules/cosine baseline remains selected. We do not claim new foundation-model training, calibrated business-success prediction, measured fairness or achieved impact. The next step is independently reviewed references, rubric calibration, subgroup evaluation, an assessor pilot and a separately approved deployment.</a:t>
            </a:r>
          </a:p>
          <a:p>
            <a:r>
              <a:rPr lang="en-US"/>
              <a:t>Sources: training/MODEL_CARD.md, evals/reports/relevance.json, planning/SESSION_HANDOFF.md. If a source path differs between branches, use evals/reports/relevance.json and models/PROVENANCE.md as the experiment/provenance record.</a:t>
            </a:r>
            <a:endParaRPr lang="en-IN"/>
          </a:p>
        </p:txBody>
      </p:sp>
      <p:sp>
        <p:nvSpPr>
          <p:cNvPr id="4" name="Slide Number Placeholder 3"/>
          <p:cNvSpPr>
            <a:spLocks noGrp="1"/>
          </p:cNvSpPr>
          <p:nvPr>
            <p:ph type="sldNum" sz="quarter" idx="5"/>
          </p:nvPr>
        </p:nvSpPr>
        <p:spPr/>
        <p:txBody>
          <a:bodyPr/>
          <a:lstStyle/>
          <a:p>
            <a:fld id="{CC1A9E94-3E81-4229-A0ED-A5BE61289E40}" type="slidenum">
              <a:rPr lang="en-IN" smtClean="0"/>
              <a:t>8</a:t>
            </a:fld>
            <a:endParaRPr lang="en-IN"/>
          </a:p>
        </p:txBody>
      </p:sp>
    </p:spTree>
    <p:extLst>
      <p:ext uri="{BB962C8B-B14F-4D97-AF65-F5344CB8AC3E}">
        <p14:creationId xmlns:p14="http://schemas.microsoft.com/office/powerpoint/2010/main" val="3279293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Close (10 seconds): Thank you. We can demonstrate evidence, a missing/conflicting case, clarification history, comparison graphs and the financial planner. Questions are welcome.</a:t>
            </a:r>
          </a:p>
          <a:p>
            <a:r>
              <a:rPr lang="en-US"/>
              <a:t>Team: Kartik Verma, Kushal Soni, Bhavana Suthar and Kanav Trivedi. Team name: Straw Hat Pirates. No organizer photo-booth team photo was supplied; the slide uses names rather than a fabricated image. The nine-slide source format and all organizer artwork remain preserved.</a:t>
            </a:r>
            <a:endParaRPr lang="en-IN"/>
          </a:p>
        </p:txBody>
      </p:sp>
      <p:sp>
        <p:nvSpPr>
          <p:cNvPr id="4" name="Slide Number Placeholder 3"/>
          <p:cNvSpPr>
            <a:spLocks noGrp="1"/>
          </p:cNvSpPr>
          <p:nvPr>
            <p:ph type="sldNum" sz="quarter" idx="5"/>
          </p:nvPr>
        </p:nvSpPr>
        <p:spPr/>
        <p:txBody>
          <a:bodyPr/>
          <a:lstStyle/>
          <a:p>
            <a:fld id="{CC1A9E94-3E81-4229-A0ED-A5BE61289E40}" type="slidenum">
              <a:rPr lang="en-IN" smtClean="0"/>
              <a:t>9</a:t>
            </a:fld>
            <a:endParaRPr lang="en-IN"/>
          </a:p>
        </p:txBody>
      </p:sp>
    </p:spTree>
    <p:extLst>
      <p:ext uri="{BB962C8B-B14F-4D97-AF65-F5344CB8AC3E}">
        <p14:creationId xmlns:p14="http://schemas.microsoft.com/office/powerpoint/2010/main" val="1875827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AAD80-144B-0065-2B8D-96EE3E1C67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EE9E6C3-DA07-3ED1-29FB-89B7241DDF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D14290E-5A5D-996C-19CD-DE78187992F3}"/>
              </a:ext>
            </a:extLst>
          </p:cNvPr>
          <p:cNvSpPr>
            <a:spLocks noGrp="1"/>
          </p:cNvSpPr>
          <p:nvPr>
            <p:ph type="dt" sz="half" idx="10"/>
          </p:nvPr>
        </p:nvSpPr>
        <p:spPr/>
        <p:txBody>
          <a:bodyPr/>
          <a:lstStyle/>
          <a:p>
            <a:fld id="{1C411C25-4733-4946-BFFB-1B74181E2A03}" type="datetimeFigureOut">
              <a:rPr lang="en-IN" smtClean="0"/>
              <a:t>18-10-2026</a:t>
            </a:fld>
            <a:endParaRPr lang="en-IN"/>
          </a:p>
        </p:txBody>
      </p:sp>
      <p:sp>
        <p:nvSpPr>
          <p:cNvPr id="5" name="Footer Placeholder 4">
            <a:extLst>
              <a:ext uri="{FF2B5EF4-FFF2-40B4-BE49-F238E27FC236}">
                <a16:creationId xmlns:a16="http://schemas.microsoft.com/office/drawing/2014/main" id="{89B85582-6C72-D500-7EF3-D678BA6DD8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FA73B1-72BE-9BEC-B745-87F7B0D83233}"/>
              </a:ext>
            </a:extLst>
          </p:cNvPr>
          <p:cNvSpPr>
            <a:spLocks noGrp="1"/>
          </p:cNvSpPr>
          <p:nvPr>
            <p:ph type="sldNum" sz="quarter" idx="12"/>
          </p:nvPr>
        </p:nvSpPr>
        <p:spPr/>
        <p:txBody>
          <a:bodyPr/>
          <a:lstStyle/>
          <a:p>
            <a:fld id="{85516524-4547-4D62-BB9A-C76A6DB1909A}" type="slidenum">
              <a:rPr lang="en-IN" smtClean="0"/>
              <a:t>‹#›</a:t>
            </a:fld>
            <a:endParaRPr lang="en-IN"/>
          </a:p>
        </p:txBody>
      </p:sp>
    </p:spTree>
    <p:extLst>
      <p:ext uri="{BB962C8B-B14F-4D97-AF65-F5344CB8AC3E}">
        <p14:creationId xmlns:p14="http://schemas.microsoft.com/office/powerpoint/2010/main" val="16094574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76FFB-C466-9101-824A-2BD553B5057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07AF887-C79B-790A-2404-383643ABFAE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E95A65-BFD8-D7E3-BD8C-995C4AEBFDB7}"/>
              </a:ext>
            </a:extLst>
          </p:cNvPr>
          <p:cNvSpPr>
            <a:spLocks noGrp="1"/>
          </p:cNvSpPr>
          <p:nvPr>
            <p:ph type="dt" sz="half" idx="10"/>
          </p:nvPr>
        </p:nvSpPr>
        <p:spPr/>
        <p:txBody>
          <a:bodyPr/>
          <a:lstStyle/>
          <a:p>
            <a:fld id="{1C411C25-4733-4946-BFFB-1B74181E2A03}" type="datetimeFigureOut">
              <a:rPr lang="en-IN" smtClean="0"/>
              <a:t>18-10-2026</a:t>
            </a:fld>
            <a:endParaRPr lang="en-IN"/>
          </a:p>
        </p:txBody>
      </p:sp>
      <p:sp>
        <p:nvSpPr>
          <p:cNvPr id="5" name="Footer Placeholder 4">
            <a:extLst>
              <a:ext uri="{FF2B5EF4-FFF2-40B4-BE49-F238E27FC236}">
                <a16:creationId xmlns:a16="http://schemas.microsoft.com/office/drawing/2014/main" id="{D1B1FB92-E0E2-E9AF-9DEF-366260607F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7022AA-E9C6-E13F-09C1-443417A58DB1}"/>
              </a:ext>
            </a:extLst>
          </p:cNvPr>
          <p:cNvSpPr>
            <a:spLocks noGrp="1"/>
          </p:cNvSpPr>
          <p:nvPr>
            <p:ph type="sldNum" sz="quarter" idx="12"/>
          </p:nvPr>
        </p:nvSpPr>
        <p:spPr/>
        <p:txBody>
          <a:bodyPr/>
          <a:lstStyle/>
          <a:p>
            <a:fld id="{85516524-4547-4D62-BB9A-C76A6DB1909A}" type="slidenum">
              <a:rPr lang="en-IN" smtClean="0"/>
              <a:t>‹#›</a:t>
            </a:fld>
            <a:endParaRPr lang="en-IN"/>
          </a:p>
        </p:txBody>
      </p:sp>
    </p:spTree>
    <p:extLst>
      <p:ext uri="{BB962C8B-B14F-4D97-AF65-F5344CB8AC3E}">
        <p14:creationId xmlns:p14="http://schemas.microsoft.com/office/powerpoint/2010/main" val="446365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5B320-7F9B-67C4-0535-8E5E544604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3A0759B-D46F-6E0E-8683-80BC918C1A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187BF0-DD0D-4DAE-949C-48DC9C1F556E}"/>
              </a:ext>
            </a:extLst>
          </p:cNvPr>
          <p:cNvSpPr>
            <a:spLocks noGrp="1"/>
          </p:cNvSpPr>
          <p:nvPr>
            <p:ph type="dt" sz="half" idx="10"/>
          </p:nvPr>
        </p:nvSpPr>
        <p:spPr/>
        <p:txBody>
          <a:bodyPr/>
          <a:lstStyle/>
          <a:p>
            <a:fld id="{1C411C25-4733-4946-BFFB-1B74181E2A03}" type="datetimeFigureOut">
              <a:rPr lang="en-IN" smtClean="0"/>
              <a:t>18-10-2026</a:t>
            </a:fld>
            <a:endParaRPr lang="en-IN"/>
          </a:p>
        </p:txBody>
      </p:sp>
      <p:sp>
        <p:nvSpPr>
          <p:cNvPr id="5" name="Footer Placeholder 4">
            <a:extLst>
              <a:ext uri="{FF2B5EF4-FFF2-40B4-BE49-F238E27FC236}">
                <a16:creationId xmlns:a16="http://schemas.microsoft.com/office/drawing/2014/main" id="{7A526DA0-4984-DDB8-7236-02538DC43DC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2016F8-E59A-44BF-39F6-E4F4534F44D6}"/>
              </a:ext>
            </a:extLst>
          </p:cNvPr>
          <p:cNvSpPr>
            <a:spLocks noGrp="1"/>
          </p:cNvSpPr>
          <p:nvPr>
            <p:ph type="sldNum" sz="quarter" idx="12"/>
          </p:nvPr>
        </p:nvSpPr>
        <p:spPr/>
        <p:txBody>
          <a:bodyPr/>
          <a:lstStyle/>
          <a:p>
            <a:fld id="{85516524-4547-4D62-BB9A-C76A6DB1909A}" type="slidenum">
              <a:rPr lang="en-IN" smtClean="0"/>
              <a:t>‹#›</a:t>
            </a:fld>
            <a:endParaRPr lang="en-IN"/>
          </a:p>
        </p:txBody>
      </p:sp>
    </p:spTree>
    <p:extLst>
      <p:ext uri="{BB962C8B-B14F-4D97-AF65-F5344CB8AC3E}">
        <p14:creationId xmlns:p14="http://schemas.microsoft.com/office/powerpoint/2010/main" val="31703041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E2FC2-F534-1F32-6571-E996ED6139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3DEBED0-EC26-CE3B-1254-7372AE01E3E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025AC04-471C-9768-9CB9-ECC2C83A0E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5D0342B-A727-B3DD-5E11-30597AFC5FD3}"/>
              </a:ext>
            </a:extLst>
          </p:cNvPr>
          <p:cNvSpPr>
            <a:spLocks noGrp="1"/>
          </p:cNvSpPr>
          <p:nvPr>
            <p:ph type="dt" sz="half" idx="10"/>
          </p:nvPr>
        </p:nvSpPr>
        <p:spPr/>
        <p:txBody>
          <a:bodyPr/>
          <a:lstStyle/>
          <a:p>
            <a:fld id="{1C411C25-4733-4946-BFFB-1B74181E2A03}" type="datetimeFigureOut">
              <a:rPr lang="en-IN" smtClean="0"/>
              <a:t>18-10-2026</a:t>
            </a:fld>
            <a:endParaRPr lang="en-IN"/>
          </a:p>
        </p:txBody>
      </p:sp>
      <p:sp>
        <p:nvSpPr>
          <p:cNvPr id="6" name="Footer Placeholder 5">
            <a:extLst>
              <a:ext uri="{FF2B5EF4-FFF2-40B4-BE49-F238E27FC236}">
                <a16:creationId xmlns:a16="http://schemas.microsoft.com/office/drawing/2014/main" id="{5FF78631-F5FA-96EF-E243-38A2FA365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F58D62-2369-C479-1733-281318DA01ED}"/>
              </a:ext>
            </a:extLst>
          </p:cNvPr>
          <p:cNvSpPr>
            <a:spLocks noGrp="1"/>
          </p:cNvSpPr>
          <p:nvPr>
            <p:ph type="sldNum" sz="quarter" idx="12"/>
          </p:nvPr>
        </p:nvSpPr>
        <p:spPr/>
        <p:txBody>
          <a:bodyPr/>
          <a:lstStyle/>
          <a:p>
            <a:fld id="{85516524-4547-4D62-BB9A-C76A6DB1909A}" type="slidenum">
              <a:rPr lang="en-IN" smtClean="0"/>
              <a:t>‹#›</a:t>
            </a:fld>
            <a:endParaRPr lang="en-IN"/>
          </a:p>
        </p:txBody>
      </p:sp>
    </p:spTree>
    <p:extLst>
      <p:ext uri="{BB962C8B-B14F-4D97-AF65-F5344CB8AC3E}">
        <p14:creationId xmlns:p14="http://schemas.microsoft.com/office/powerpoint/2010/main" val="20877262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65DF8-B889-84D4-9357-15F16010759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CB9E2C-AEEF-F93A-651A-8F5F742A96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06CA40-95FF-E54C-BB1B-1554C01E9DE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7ADF12F-B30B-555C-5E2E-6C2C0D238C7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DFBFBF-AB13-A154-2D4A-0CACDC0921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4A0A5F5-4785-9C92-411E-BF1C616A94E9}"/>
              </a:ext>
            </a:extLst>
          </p:cNvPr>
          <p:cNvSpPr>
            <a:spLocks noGrp="1"/>
          </p:cNvSpPr>
          <p:nvPr>
            <p:ph type="dt" sz="half" idx="10"/>
          </p:nvPr>
        </p:nvSpPr>
        <p:spPr/>
        <p:txBody>
          <a:bodyPr/>
          <a:lstStyle/>
          <a:p>
            <a:fld id="{1C411C25-4733-4946-BFFB-1B74181E2A03}" type="datetimeFigureOut">
              <a:rPr lang="en-IN" smtClean="0"/>
              <a:t>18-10-2026</a:t>
            </a:fld>
            <a:endParaRPr lang="en-IN"/>
          </a:p>
        </p:txBody>
      </p:sp>
      <p:sp>
        <p:nvSpPr>
          <p:cNvPr id="8" name="Footer Placeholder 7">
            <a:extLst>
              <a:ext uri="{FF2B5EF4-FFF2-40B4-BE49-F238E27FC236}">
                <a16:creationId xmlns:a16="http://schemas.microsoft.com/office/drawing/2014/main" id="{3F87A362-BCC5-21D3-07BE-B9C65D4C0CF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0EE62A5-4ACD-85B5-518A-36C76B8533A1}"/>
              </a:ext>
            </a:extLst>
          </p:cNvPr>
          <p:cNvSpPr>
            <a:spLocks noGrp="1"/>
          </p:cNvSpPr>
          <p:nvPr>
            <p:ph type="sldNum" sz="quarter" idx="12"/>
          </p:nvPr>
        </p:nvSpPr>
        <p:spPr/>
        <p:txBody>
          <a:bodyPr/>
          <a:lstStyle/>
          <a:p>
            <a:fld id="{85516524-4547-4D62-BB9A-C76A6DB1909A}" type="slidenum">
              <a:rPr lang="en-IN" smtClean="0"/>
              <a:t>‹#›</a:t>
            </a:fld>
            <a:endParaRPr lang="en-IN"/>
          </a:p>
        </p:txBody>
      </p:sp>
    </p:spTree>
    <p:extLst>
      <p:ext uri="{BB962C8B-B14F-4D97-AF65-F5344CB8AC3E}">
        <p14:creationId xmlns:p14="http://schemas.microsoft.com/office/powerpoint/2010/main" val="2328912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7CFA19-FD32-6214-5009-C8D7FD61401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34AAFBA-1A4E-59A3-2491-6DD9DF8CC044}"/>
              </a:ext>
            </a:extLst>
          </p:cNvPr>
          <p:cNvSpPr>
            <a:spLocks noGrp="1"/>
          </p:cNvSpPr>
          <p:nvPr>
            <p:ph type="dt" sz="half" idx="10"/>
          </p:nvPr>
        </p:nvSpPr>
        <p:spPr/>
        <p:txBody>
          <a:bodyPr/>
          <a:lstStyle/>
          <a:p>
            <a:fld id="{1C411C25-4733-4946-BFFB-1B74181E2A03}" type="datetimeFigureOut">
              <a:rPr lang="en-IN" smtClean="0"/>
              <a:t>18-10-2026</a:t>
            </a:fld>
            <a:endParaRPr lang="en-IN"/>
          </a:p>
        </p:txBody>
      </p:sp>
      <p:sp>
        <p:nvSpPr>
          <p:cNvPr id="4" name="Footer Placeholder 3">
            <a:extLst>
              <a:ext uri="{FF2B5EF4-FFF2-40B4-BE49-F238E27FC236}">
                <a16:creationId xmlns:a16="http://schemas.microsoft.com/office/drawing/2014/main" id="{0DAAB892-E80B-3FDA-A2E9-84BDFF96E4A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DB1A271-C7C0-A905-1086-FB1D38EF03BD}"/>
              </a:ext>
            </a:extLst>
          </p:cNvPr>
          <p:cNvSpPr>
            <a:spLocks noGrp="1"/>
          </p:cNvSpPr>
          <p:nvPr>
            <p:ph type="sldNum" sz="quarter" idx="12"/>
          </p:nvPr>
        </p:nvSpPr>
        <p:spPr/>
        <p:txBody>
          <a:bodyPr/>
          <a:lstStyle/>
          <a:p>
            <a:fld id="{85516524-4547-4D62-BB9A-C76A6DB1909A}" type="slidenum">
              <a:rPr lang="en-IN" smtClean="0"/>
              <a:t>‹#›</a:t>
            </a:fld>
            <a:endParaRPr lang="en-IN"/>
          </a:p>
        </p:txBody>
      </p:sp>
    </p:spTree>
    <p:extLst>
      <p:ext uri="{BB962C8B-B14F-4D97-AF65-F5344CB8AC3E}">
        <p14:creationId xmlns:p14="http://schemas.microsoft.com/office/powerpoint/2010/main" val="14542804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093479-0150-1037-6499-8A78CB55778B}"/>
              </a:ext>
            </a:extLst>
          </p:cNvPr>
          <p:cNvSpPr>
            <a:spLocks noGrp="1"/>
          </p:cNvSpPr>
          <p:nvPr>
            <p:ph type="dt" sz="half" idx="10"/>
          </p:nvPr>
        </p:nvSpPr>
        <p:spPr/>
        <p:txBody>
          <a:bodyPr/>
          <a:lstStyle/>
          <a:p>
            <a:fld id="{1C411C25-4733-4946-BFFB-1B74181E2A03}" type="datetimeFigureOut">
              <a:rPr lang="en-IN" smtClean="0"/>
              <a:t>18-10-2026</a:t>
            </a:fld>
            <a:endParaRPr lang="en-IN"/>
          </a:p>
        </p:txBody>
      </p:sp>
      <p:sp>
        <p:nvSpPr>
          <p:cNvPr id="3" name="Footer Placeholder 2">
            <a:extLst>
              <a:ext uri="{FF2B5EF4-FFF2-40B4-BE49-F238E27FC236}">
                <a16:creationId xmlns:a16="http://schemas.microsoft.com/office/drawing/2014/main" id="{F2F6C40D-C4AE-D47C-DA70-C1AFABEF967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AF4C8A8-00AB-454F-C4CD-F45473A7819D}"/>
              </a:ext>
            </a:extLst>
          </p:cNvPr>
          <p:cNvSpPr>
            <a:spLocks noGrp="1"/>
          </p:cNvSpPr>
          <p:nvPr>
            <p:ph type="sldNum" sz="quarter" idx="12"/>
          </p:nvPr>
        </p:nvSpPr>
        <p:spPr/>
        <p:txBody>
          <a:bodyPr/>
          <a:lstStyle/>
          <a:p>
            <a:fld id="{85516524-4547-4D62-BB9A-C76A6DB1909A}" type="slidenum">
              <a:rPr lang="en-IN" smtClean="0"/>
              <a:t>‹#›</a:t>
            </a:fld>
            <a:endParaRPr lang="en-IN"/>
          </a:p>
        </p:txBody>
      </p:sp>
    </p:spTree>
    <p:extLst>
      <p:ext uri="{BB962C8B-B14F-4D97-AF65-F5344CB8AC3E}">
        <p14:creationId xmlns:p14="http://schemas.microsoft.com/office/powerpoint/2010/main" val="2413620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B9F25-543D-D042-A58C-63D65BB21C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5FA9D434-5640-C2F3-212A-119E109D34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D13616D-8870-B985-56C2-9F89757E14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6C7FC7-FDF2-84BF-3FA9-A8DF6DD6AF15}"/>
              </a:ext>
            </a:extLst>
          </p:cNvPr>
          <p:cNvSpPr>
            <a:spLocks noGrp="1"/>
          </p:cNvSpPr>
          <p:nvPr>
            <p:ph type="dt" sz="half" idx="10"/>
          </p:nvPr>
        </p:nvSpPr>
        <p:spPr/>
        <p:txBody>
          <a:bodyPr/>
          <a:lstStyle/>
          <a:p>
            <a:fld id="{1C411C25-4733-4946-BFFB-1B74181E2A03}" type="datetimeFigureOut">
              <a:rPr lang="en-IN" smtClean="0"/>
              <a:t>18-10-2026</a:t>
            </a:fld>
            <a:endParaRPr lang="en-IN"/>
          </a:p>
        </p:txBody>
      </p:sp>
      <p:sp>
        <p:nvSpPr>
          <p:cNvPr id="6" name="Footer Placeholder 5">
            <a:extLst>
              <a:ext uri="{FF2B5EF4-FFF2-40B4-BE49-F238E27FC236}">
                <a16:creationId xmlns:a16="http://schemas.microsoft.com/office/drawing/2014/main" id="{CB3D93B6-3EC3-6AA9-BEFB-DC0D9D3A56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3E1003-FD0D-A9BF-A1BE-8823B7978AAF}"/>
              </a:ext>
            </a:extLst>
          </p:cNvPr>
          <p:cNvSpPr>
            <a:spLocks noGrp="1"/>
          </p:cNvSpPr>
          <p:nvPr>
            <p:ph type="sldNum" sz="quarter" idx="12"/>
          </p:nvPr>
        </p:nvSpPr>
        <p:spPr/>
        <p:txBody>
          <a:bodyPr/>
          <a:lstStyle/>
          <a:p>
            <a:fld id="{85516524-4547-4D62-BB9A-C76A6DB1909A}" type="slidenum">
              <a:rPr lang="en-IN" smtClean="0"/>
              <a:t>‹#›</a:t>
            </a:fld>
            <a:endParaRPr lang="en-IN"/>
          </a:p>
        </p:txBody>
      </p:sp>
    </p:spTree>
    <p:extLst>
      <p:ext uri="{BB962C8B-B14F-4D97-AF65-F5344CB8AC3E}">
        <p14:creationId xmlns:p14="http://schemas.microsoft.com/office/powerpoint/2010/main" val="33911908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BF61B-365E-28DD-EAD9-284DF9333F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509BB48-8132-E751-6B60-0FDC8BB8C2CF}"/>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E1AF9C8-A5FB-AF34-56A9-63E240D563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2BB82F-32E6-7D0C-C8F6-97B86B03CDE2}"/>
              </a:ext>
            </a:extLst>
          </p:cNvPr>
          <p:cNvSpPr>
            <a:spLocks noGrp="1"/>
          </p:cNvSpPr>
          <p:nvPr>
            <p:ph type="dt" sz="half" idx="10"/>
          </p:nvPr>
        </p:nvSpPr>
        <p:spPr/>
        <p:txBody>
          <a:bodyPr/>
          <a:lstStyle/>
          <a:p>
            <a:fld id="{1C411C25-4733-4946-BFFB-1B74181E2A03}" type="datetimeFigureOut">
              <a:rPr lang="en-IN" smtClean="0"/>
              <a:t>18-10-2026</a:t>
            </a:fld>
            <a:endParaRPr lang="en-IN"/>
          </a:p>
        </p:txBody>
      </p:sp>
      <p:sp>
        <p:nvSpPr>
          <p:cNvPr id="6" name="Footer Placeholder 5">
            <a:extLst>
              <a:ext uri="{FF2B5EF4-FFF2-40B4-BE49-F238E27FC236}">
                <a16:creationId xmlns:a16="http://schemas.microsoft.com/office/drawing/2014/main" id="{330350B0-2A70-287E-AB14-6C10D1BE3C6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28BD8E-7477-987C-C9AE-E93BE632CB42}"/>
              </a:ext>
            </a:extLst>
          </p:cNvPr>
          <p:cNvSpPr>
            <a:spLocks noGrp="1"/>
          </p:cNvSpPr>
          <p:nvPr>
            <p:ph type="sldNum" sz="quarter" idx="12"/>
          </p:nvPr>
        </p:nvSpPr>
        <p:spPr/>
        <p:txBody>
          <a:bodyPr/>
          <a:lstStyle/>
          <a:p>
            <a:fld id="{85516524-4547-4D62-BB9A-C76A6DB1909A}" type="slidenum">
              <a:rPr lang="en-IN" smtClean="0"/>
              <a:t>‹#›</a:t>
            </a:fld>
            <a:endParaRPr lang="en-IN"/>
          </a:p>
        </p:txBody>
      </p:sp>
    </p:spTree>
    <p:extLst>
      <p:ext uri="{BB962C8B-B14F-4D97-AF65-F5344CB8AC3E}">
        <p14:creationId xmlns:p14="http://schemas.microsoft.com/office/powerpoint/2010/main" val="96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61441F-5A96-0FDE-6EE2-B3D312C0C05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A463C0-71CD-AB6A-3565-41EB3FD63A2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7021AB4-AE1C-2F56-5E90-CDBD838979DC}"/>
              </a:ext>
            </a:extLst>
          </p:cNvPr>
          <p:cNvSpPr>
            <a:spLocks noGrp="1"/>
          </p:cNvSpPr>
          <p:nvPr>
            <p:ph type="dt" sz="half" idx="10"/>
          </p:nvPr>
        </p:nvSpPr>
        <p:spPr/>
        <p:txBody>
          <a:bodyPr/>
          <a:lstStyle/>
          <a:p>
            <a:fld id="{1C411C25-4733-4946-BFFB-1B74181E2A03}" type="datetimeFigureOut">
              <a:rPr lang="en-IN" smtClean="0"/>
              <a:t>18-10-2026</a:t>
            </a:fld>
            <a:endParaRPr lang="en-IN"/>
          </a:p>
        </p:txBody>
      </p:sp>
      <p:sp>
        <p:nvSpPr>
          <p:cNvPr id="5" name="Footer Placeholder 4">
            <a:extLst>
              <a:ext uri="{FF2B5EF4-FFF2-40B4-BE49-F238E27FC236}">
                <a16:creationId xmlns:a16="http://schemas.microsoft.com/office/drawing/2014/main" id="{4A2D6B60-873F-EA29-0128-E6D263E205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A53D6F-515A-ACED-C944-B67AF5DD5722}"/>
              </a:ext>
            </a:extLst>
          </p:cNvPr>
          <p:cNvSpPr>
            <a:spLocks noGrp="1"/>
          </p:cNvSpPr>
          <p:nvPr>
            <p:ph type="sldNum" sz="quarter" idx="12"/>
          </p:nvPr>
        </p:nvSpPr>
        <p:spPr/>
        <p:txBody>
          <a:bodyPr/>
          <a:lstStyle/>
          <a:p>
            <a:fld id="{85516524-4547-4D62-BB9A-C76A6DB1909A}" type="slidenum">
              <a:rPr lang="en-IN" smtClean="0"/>
              <a:t>‹#›</a:t>
            </a:fld>
            <a:endParaRPr lang="en-IN"/>
          </a:p>
        </p:txBody>
      </p:sp>
    </p:spTree>
    <p:extLst>
      <p:ext uri="{BB962C8B-B14F-4D97-AF65-F5344CB8AC3E}">
        <p14:creationId xmlns:p14="http://schemas.microsoft.com/office/powerpoint/2010/main" val="1782232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700CC90-9279-842A-F276-1872F8251B1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DAC7056-A085-A43B-8809-083137CF88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D936E80-AC8C-21F5-B600-3139CCD69420}"/>
              </a:ext>
            </a:extLst>
          </p:cNvPr>
          <p:cNvSpPr>
            <a:spLocks noGrp="1"/>
          </p:cNvSpPr>
          <p:nvPr>
            <p:ph type="dt" sz="half" idx="10"/>
          </p:nvPr>
        </p:nvSpPr>
        <p:spPr/>
        <p:txBody>
          <a:bodyPr/>
          <a:lstStyle/>
          <a:p>
            <a:fld id="{1C411C25-4733-4946-BFFB-1B74181E2A03}" type="datetimeFigureOut">
              <a:rPr lang="en-IN" smtClean="0"/>
              <a:t>18-10-2026</a:t>
            </a:fld>
            <a:endParaRPr lang="en-IN"/>
          </a:p>
        </p:txBody>
      </p:sp>
      <p:sp>
        <p:nvSpPr>
          <p:cNvPr id="5" name="Footer Placeholder 4">
            <a:extLst>
              <a:ext uri="{FF2B5EF4-FFF2-40B4-BE49-F238E27FC236}">
                <a16:creationId xmlns:a16="http://schemas.microsoft.com/office/drawing/2014/main" id="{795C867A-B8F2-0215-A22B-CEAB4C0BB0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7B53BAC-0C52-19D0-CC28-0A11E3B30692}"/>
              </a:ext>
            </a:extLst>
          </p:cNvPr>
          <p:cNvSpPr>
            <a:spLocks noGrp="1"/>
          </p:cNvSpPr>
          <p:nvPr>
            <p:ph type="sldNum" sz="quarter" idx="12"/>
          </p:nvPr>
        </p:nvSpPr>
        <p:spPr/>
        <p:txBody>
          <a:bodyPr/>
          <a:lstStyle/>
          <a:p>
            <a:fld id="{85516524-4547-4D62-BB9A-C76A6DB1909A}" type="slidenum">
              <a:rPr lang="en-IN" smtClean="0"/>
              <a:t>‹#›</a:t>
            </a:fld>
            <a:endParaRPr lang="en-IN"/>
          </a:p>
        </p:txBody>
      </p:sp>
    </p:spTree>
    <p:extLst>
      <p:ext uri="{BB962C8B-B14F-4D97-AF65-F5344CB8AC3E}">
        <p14:creationId xmlns:p14="http://schemas.microsoft.com/office/powerpoint/2010/main" val="3390568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C644E-6EC4-0C8F-6150-8C658F1344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DDA665B-E591-2606-2FD4-ED96E7F21E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B77FE1-D768-0CA9-2955-47A4A53A81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411C25-4733-4946-BFFB-1B74181E2A03}" type="datetimeFigureOut">
              <a:rPr lang="en-IN" smtClean="0"/>
              <a:t>18-10-2026</a:t>
            </a:fld>
            <a:endParaRPr lang="en-IN"/>
          </a:p>
        </p:txBody>
      </p:sp>
      <p:sp>
        <p:nvSpPr>
          <p:cNvPr id="5" name="Footer Placeholder 4">
            <a:extLst>
              <a:ext uri="{FF2B5EF4-FFF2-40B4-BE49-F238E27FC236}">
                <a16:creationId xmlns:a16="http://schemas.microsoft.com/office/drawing/2014/main" id="{830C5981-EC55-9A52-1171-0AC3C780F72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BC4C3A8-9FCF-9239-060B-C91D0C2004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516524-4547-4D62-BB9A-C76A6DB1909A}" type="slidenum">
              <a:rPr lang="en-IN" smtClean="0"/>
              <a:t>‹#›</a:t>
            </a:fld>
            <a:endParaRPr lang="en-IN"/>
          </a:p>
        </p:txBody>
      </p:sp>
    </p:spTree>
    <p:extLst>
      <p:ext uri="{BB962C8B-B14F-4D97-AF65-F5344CB8AC3E}">
        <p14:creationId xmlns:p14="http://schemas.microsoft.com/office/powerpoint/2010/main" val="25185136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CB690-3DD1-6506-DB68-D70C197E2EF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EEB454C-F4EC-EF9A-A032-8D35C71F8CA1}"/>
              </a:ext>
            </a:extLst>
          </p:cNvPr>
          <p:cNvSpPr txBox="1"/>
          <p:nvPr/>
        </p:nvSpPr>
        <p:spPr>
          <a:xfrm>
            <a:off x="3048000" y="3246792"/>
            <a:ext cx="6096000" cy="369332"/>
          </a:xfrm>
          <a:prstGeom prst="rect">
            <a:avLst/>
          </a:prstGeom>
          <a:noFill/>
        </p:spPr>
        <p:txBody>
          <a:bodyPr wrap="square">
            <a:spAutoFit/>
          </a:bodyPr>
          <a:lstStyle/>
          <a:p>
            <a:endParaRPr lang="en-IN"/>
          </a:p>
        </p:txBody>
      </p:sp>
      <p:pic>
        <p:nvPicPr>
          <p:cNvPr id="11" name="Picture 10">
            <a:extLst>
              <a:ext uri="{FF2B5EF4-FFF2-40B4-BE49-F238E27FC236}">
                <a16:creationId xmlns:a16="http://schemas.microsoft.com/office/drawing/2014/main" id="{56ACA7B8-27C8-9DD9-7DD9-29AB1332E3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71625"/>
            <a:ext cx="10359597" cy="5186375"/>
          </a:xfrm>
          <a:prstGeom prst="rect">
            <a:avLst/>
          </a:prstGeom>
        </p:spPr>
      </p:pic>
      <p:pic>
        <p:nvPicPr>
          <p:cNvPr id="3" name="Picture 2">
            <a:extLst>
              <a:ext uri="{FF2B5EF4-FFF2-40B4-BE49-F238E27FC236}">
                <a16:creationId xmlns:a16="http://schemas.microsoft.com/office/drawing/2014/main" id="{6127D0EF-3158-9C26-B4CC-AECD4F165B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913" y="-1"/>
            <a:ext cx="3342967" cy="1671625"/>
          </a:xfrm>
          <a:prstGeom prst="rect">
            <a:avLst/>
          </a:prstGeom>
        </p:spPr>
      </p:pic>
      <p:pic>
        <p:nvPicPr>
          <p:cNvPr id="14" name="Picture 13">
            <a:extLst>
              <a:ext uri="{FF2B5EF4-FFF2-40B4-BE49-F238E27FC236}">
                <a16:creationId xmlns:a16="http://schemas.microsoft.com/office/drawing/2014/main" id="{C3B0FCE6-8C0A-07A6-0EE2-96051E338BB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09095" y="231127"/>
            <a:ext cx="1209368" cy="1209368"/>
          </a:xfrm>
          <a:prstGeom prst="rect">
            <a:avLst/>
          </a:prstGeom>
        </p:spPr>
      </p:pic>
      <p:pic>
        <p:nvPicPr>
          <p:cNvPr id="16" name="Picture 15">
            <a:extLst>
              <a:ext uri="{FF2B5EF4-FFF2-40B4-BE49-F238E27FC236}">
                <a16:creationId xmlns:a16="http://schemas.microsoft.com/office/drawing/2014/main" id="{3C96B342-2207-A144-959E-7BBCD2AC2807}"/>
              </a:ext>
            </a:extLst>
          </p:cNvPr>
          <p:cNvPicPr>
            <a:picLocks noChangeAspect="1"/>
          </p:cNvPicPr>
          <p:nvPr/>
        </p:nvPicPr>
        <p:blipFill>
          <a:blip r:embed="rId6">
            <a:extLst>
              <a:ext uri="{28A0092B-C50C-407E-A947-70E740481C1C}">
                <a14:useLocalDpi xmlns:a14="http://schemas.microsoft.com/office/drawing/2010/main" val="0"/>
              </a:ext>
            </a:extLst>
          </a:blip>
          <a:srcRect t="15233" b="12420"/>
          <a:stretch>
            <a:fillRect/>
          </a:stretch>
        </p:blipFill>
        <p:spPr>
          <a:xfrm>
            <a:off x="8869852" y="176938"/>
            <a:ext cx="1710813" cy="1209369"/>
          </a:xfrm>
          <a:prstGeom prst="rect">
            <a:avLst/>
          </a:prstGeom>
        </p:spPr>
      </p:pic>
      <p:pic>
        <p:nvPicPr>
          <p:cNvPr id="18" name="Picture 17">
            <a:extLst>
              <a:ext uri="{FF2B5EF4-FFF2-40B4-BE49-F238E27FC236}">
                <a16:creationId xmlns:a16="http://schemas.microsoft.com/office/drawing/2014/main" id="{BEBEFD4D-7F1C-068D-D0BB-428E92A739E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00629" y="-75234"/>
            <a:ext cx="3640793" cy="1822089"/>
          </a:xfrm>
          <a:prstGeom prst="rect">
            <a:avLst/>
          </a:prstGeom>
        </p:spPr>
      </p:pic>
      <p:sp>
        <p:nvSpPr>
          <p:cNvPr id="20" name="TextBox 19">
            <a:extLst>
              <a:ext uri="{FF2B5EF4-FFF2-40B4-BE49-F238E27FC236}">
                <a16:creationId xmlns:a16="http://schemas.microsoft.com/office/drawing/2014/main" id="{12AE17CD-456F-ECC3-DACA-F94BFEECBEAD}"/>
              </a:ext>
            </a:extLst>
          </p:cNvPr>
          <p:cNvSpPr txBox="1"/>
          <p:nvPr/>
        </p:nvSpPr>
        <p:spPr>
          <a:xfrm>
            <a:off x="963862" y="2518227"/>
            <a:ext cx="6140368" cy="718466"/>
          </a:xfrm>
          <a:prstGeom prst="rect">
            <a:avLst/>
          </a:prstGeom>
          <a:noFill/>
        </p:spPr>
        <p:txBody>
          <a:bodyPr wrap="square">
            <a:spAutoFit/>
          </a:bodyPr>
          <a:lstStyle/>
          <a:p>
            <a:pPr marL="285750" indent="-285750" algn="just">
              <a:lnSpc>
                <a:spcPct val="200000"/>
              </a:lnSpc>
              <a:buFont typeface="Arial" panose="020B0604020202020204" pitchFamily="34" charset="0"/>
              <a:buChar char="•"/>
            </a:pPr>
            <a:endParaRPr lang="en-IN" sz="2400" b="1" dirty="0">
              <a:latin typeface="Times New Roman" panose="02020603050405020304" pitchFamily="18" charset="0"/>
              <a:cs typeface="Times New Roman" panose="02020603050405020304" pitchFamily="18" charset="0"/>
            </a:endParaRPr>
          </a:p>
        </p:txBody>
      </p:sp>
      <p:sp>
        <p:nvSpPr>
          <p:cNvPr id="2" name="Content 8">
            <a:extLst>
              <a:ext uri="{FF2B5EF4-FFF2-40B4-BE49-F238E27FC236}">
                <a16:creationId xmlns:a16="http://schemas.microsoft.com/office/drawing/2014/main" id="{5BC35543-7441-A3DB-C88A-5F3551EFBB39}"/>
              </a:ext>
            </a:extLst>
          </p:cNvPr>
          <p:cNvSpPr txBox="1"/>
          <p:nvPr/>
        </p:nvSpPr>
        <p:spPr>
          <a:xfrm>
            <a:off x="825500" y="2120899"/>
            <a:ext cx="10160000" cy="774700"/>
          </a:xfrm>
          <a:prstGeom prst="rect">
            <a:avLst/>
          </a:prstGeom>
          <a:noFill/>
        </p:spPr>
        <p:txBody>
          <a:bodyPr vert="horz" wrap="square" lIns="0" tIns="0" rIns="0" bIns="0" rtlCol="0">
            <a:noAutofit/>
          </a:bodyPr>
          <a:lstStyle/>
          <a:p>
            <a:r>
              <a:rPr lang="en-IN" sz="4300" b="1">
                <a:solidFill>
                  <a:srgbClr val="182231"/>
                </a:solidFill>
                <a:latin typeface="Arial" panose="020B0604020202020204" pitchFamily="34" charset="0"/>
              </a:rPr>
              <a:t>Udyam Saathi</a:t>
            </a:r>
          </a:p>
        </p:txBody>
      </p:sp>
      <p:sp>
        <p:nvSpPr>
          <p:cNvPr id="4" name="Content 9">
            <a:extLst>
              <a:ext uri="{FF2B5EF4-FFF2-40B4-BE49-F238E27FC236}">
                <a16:creationId xmlns:a16="http://schemas.microsoft.com/office/drawing/2014/main" id="{AB89F69C-4D0B-3520-7201-AE698D6A3AD3}"/>
              </a:ext>
            </a:extLst>
          </p:cNvPr>
          <p:cNvSpPr txBox="1"/>
          <p:nvPr/>
        </p:nvSpPr>
        <p:spPr>
          <a:xfrm>
            <a:off x="863600" y="3009899"/>
            <a:ext cx="10160000" cy="533400"/>
          </a:xfrm>
          <a:prstGeom prst="rect">
            <a:avLst/>
          </a:prstGeom>
          <a:noFill/>
        </p:spPr>
        <p:txBody>
          <a:bodyPr vert="horz" wrap="square" lIns="0" tIns="0" rIns="0" bIns="0" rtlCol="0">
            <a:noAutofit/>
          </a:bodyPr>
          <a:lstStyle/>
          <a:p>
            <a:r>
              <a:rPr lang="en-US" sz="2500">
                <a:solidFill>
                  <a:srgbClr val="555E68"/>
                </a:solidFill>
                <a:latin typeface="Arial" panose="020B0604020202020204" pitchFamily="34" charset="0"/>
              </a:rPr>
              <a:t>First-level assessment of business ideas</a:t>
            </a:r>
            <a:endParaRPr lang="en-IN" sz="2500">
              <a:solidFill>
                <a:srgbClr val="555E68"/>
              </a:solidFill>
              <a:latin typeface="Arial" panose="020B0604020202020204" pitchFamily="34" charset="0"/>
            </a:endParaRPr>
          </a:p>
        </p:txBody>
      </p:sp>
      <p:sp>
        <p:nvSpPr>
          <p:cNvPr id="6" name="Content 10">
            <a:extLst>
              <a:ext uri="{FF2B5EF4-FFF2-40B4-BE49-F238E27FC236}">
                <a16:creationId xmlns:a16="http://schemas.microsoft.com/office/drawing/2014/main" id="{438C2CFA-CDBD-6458-8131-AD1063F63C2A}"/>
              </a:ext>
            </a:extLst>
          </p:cNvPr>
          <p:cNvSpPr txBox="1"/>
          <p:nvPr/>
        </p:nvSpPr>
        <p:spPr>
          <a:xfrm>
            <a:off x="863600" y="4013199"/>
            <a:ext cx="10160000" cy="508000"/>
          </a:xfrm>
          <a:prstGeom prst="rect">
            <a:avLst/>
          </a:prstGeom>
          <a:noFill/>
        </p:spPr>
        <p:txBody>
          <a:bodyPr vert="horz" wrap="square" lIns="0" tIns="0" rIns="0" bIns="0" rtlCol="0">
            <a:noAutofit/>
          </a:bodyPr>
          <a:lstStyle/>
          <a:p>
            <a:r>
              <a:rPr lang="en-IN" sz="2800" b="1">
                <a:solidFill>
                  <a:srgbClr val="F41F30"/>
                </a:solidFill>
                <a:latin typeface="Arial" panose="020B0604020202020204" pitchFamily="34" charset="0"/>
              </a:rPr>
              <a:t>Straw Hat Pirates</a:t>
            </a:r>
          </a:p>
        </p:txBody>
      </p:sp>
      <p:sp>
        <p:nvSpPr>
          <p:cNvPr id="7" name="Content 11">
            <a:extLst>
              <a:ext uri="{FF2B5EF4-FFF2-40B4-BE49-F238E27FC236}">
                <a16:creationId xmlns:a16="http://schemas.microsoft.com/office/drawing/2014/main" id="{733A8CD4-5F15-BF12-095D-35453EF68DAC}"/>
              </a:ext>
            </a:extLst>
          </p:cNvPr>
          <p:cNvSpPr txBox="1"/>
          <p:nvPr/>
        </p:nvSpPr>
        <p:spPr>
          <a:xfrm>
            <a:off x="863600" y="4737099"/>
            <a:ext cx="10160000" cy="1016000"/>
          </a:xfrm>
          <a:prstGeom prst="rect">
            <a:avLst/>
          </a:prstGeom>
          <a:noFill/>
        </p:spPr>
        <p:txBody>
          <a:bodyPr vert="horz" wrap="square" lIns="0" tIns="0" rIns="0" bIns="0" rtlCol="0">
            <a:noAutofit/>
          </a:bodyPr>
          <a:lstStyle/>
          <a:p>
            <a:r>
              <a:rPr lang="en-IN" sz="2300">
                <a:solidFill>
                  <a:srgbClr val="182231"/>
                </a:solidFill>
                <a:latin typeface="Arial" panose="020B0604020202020204" pitchFamily="34" charset="0"/>
              </a:rPr>
              <a:t>Kartik Verma     Kushal Soni
Bhavana Suthar     Kanav Trivedi</a:t>
            </a:r>
          </a:p>
        </p:txBody>
      </p:sp>
    </p:spTree>
    <p:extLst>
      <p:ext uri="{BB962C8B-B14F-4D97-AF65-F5344CB8AC3E}">
        <p14:creationId xmlns:p14="http://schemas.microsoft.com/office/powerpoint/2010/main" val="1845925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C4F18-C7C5-25E4-908E-302A3B01DCA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A9D77D6-F5E8-AAC2-0E67-539433CC6664}"/>
              </a:ext>
            </a:extLst>
          </p:cNvPr>
          <p:cNvSpPr txBox="1"/>
          <p:nvPr/>
        </p:nvSpPr>
        <p:spPr>
          <a:xfrm>
            <a:off x="3048000" y="3246792"/>
            <a:ext cx="6096000" cy="369332"/>
          </a:xfrm>
          <a:prstGeom prst="rect">
            <a:avLst/>
          </a:prstGeom>
          <a:noFill/>
        </p:spPr>
        <p:txBody>
          <a:bodyPr wrap="square">
            <a:spAutoFit/>
          </a:bodyPr>
          <a:lstStyle/>
          <a:p>
            <a:endParaRPr lang="en-IN"/>
          </a:p>
        </p:txBody>
      </p:sp>
      <p:pic>
        <p:nvPicPr>
          <p:cNvPr id="11" name="Picture 10">
            <a:extLst>
              <a:ext uri="{FF2B5EF4-FFF2-40B4-BE49-F238E27FC236}">
                <a16:creationId xmlns:a16="http://schemas.microsoft.com/office/drawing/2014/main" id="{55C23323-5BAC-59CC-619F-E0BA2A47A4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71625"/>
            <a:ext cx="10359597" cy="5186375"/>
          </a:xfrm>
          <a:prstGeom prst="rect">
            <a:avLst/>
          </a:prstGeom>
        </p:spPr>
      </p:pic>
      <p:pic>
        <p:nvPicPr>
          <p:cNvPr id="3" name="Picture 2">
            <a:extLst>
              <a:ext uri="{FF2B5EF4-FFF2-40B4-BE49-F238E27FC236}">
                <a16:creationId xmlns:a16="http://schemas.microsoft.com/office/drawing/2014/main" id="{0A196132-F602-00B0-E6CD-186C5B6209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913" y="-1"/>
            <a:ext cx="3342967" cy="1671625"/>
          </a:xfrm>
          <a:prstGeom prst="rect">
            <a:avLst/>
          </a:prstGeom>
        </p:spPr>
      </p:pic>
      <p:pic>
        <p:nvPicPr>
          <p:cNvPr id="14" name="Picture 13">
            <a:extLst>
              <a:ext uri="{FF2B5EF4-FFF2-40B4-BE49-F238E27FC236}">
                <a16:creationId xmlns:a16="http://schemas.microsoft.com/office/drawing/2014/main" id="{EBCA599C-D996-1DA7-71DC-A668B5247A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09095" y="231127"/>
            <a:ext cx="1209368" cy="1209368"/>
          </a:xfrm>
          <a:prstGeom prst="rect">
            <a:avLst/>
          </a:prstGeom>
        </p:spPr>
      </p:pic>
      <p:pic>
        <p:nvPicPr>
          <p:cNvPr id="16" name="Picture 15">
            <a:extLst>
              <a:ext uri="{FF2B5EF4-FFF2-40B4-BE49-F238E27FC236}">
                <a16:creationId xmlns:a16="http://schemas.microsoft.com/office/drawing/2014/main" id="{4A8F8822-96BA-4138-9686-32DE554E4375}"/>
              </a:ext>
            </a:extLst>
          </p:cNvPr>
          <p:cNvPicPr>
            <a:picLocks noChangeAspect="1"/>
          </p:cNvPicPr>
          <p:nvPr/>
        </p:nvPicPr>
        <p:blipFill>
          <a:blip r:embed="rId6">
            <a:extLst>
              <a:ext uri="{28A0092B-C50C-407E-A947-70E740481C1C}">
                <a14:useLocalDpi xmlns:a14="http://schemas.microsoft.com/office/drawing/2010/main" val="0"/>
              </a:ext>
            </a:extLst>
          </a:blip>
          <a:srcRect t="15233" b="12420"/>
          <a:stretch>
            <a:fillRect/>
          </a:stretch>
        </p:blipFill>
        <p:spPr>
          <a:xfrm>
            <a:off x="8869852" y="176938"/>
            <a:ext cx="1710813" cy="1209369"/>
          </a:xfrm>
          <a:prstGeom prst="rect">
            <a:avLst/>
          </a:prstGeom>
        </p:spPr>
      </p:pic>
      <p:pic>
        <p:nvPicPr>
          <p:cNvPr id="18" name="Picture 17">
            <a:extLst>
              <a:ext uri="{FF2B5EF4-FFF2-40B4-BE49-F238E27FC236}">
                <a16:creationId xmlns:a16="http://schemas.microsoft.com/office/drawing/2014/main" id="{3D7EEC3C-2E44-AF5E-620B-D8DE99D2081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00629" y="-75234"/>
            <a:ext cx="3640793" cy="1822089"/>
          </a:xfrm>
          <a:prstGeom prst="rect">
            <a:avLst/>
          </a:prstGeom>
        </p:spPr>
      </p:pic>
      <p:sp>
        <p:nvSpPr>
          <p:cNvPr id="2" name="TextBox 1">
            <a:extLst>
              <a:ext uri="{FF2B5EF4-FFF2-40B4-BE49-F238E27FC236}">
                <a16:creationId xmlns:a16="http://schemas.microsoft.com/office/drawing/2014/main" id="{F7A42D71-E47A-1CA2-AE86-872B68DBCD6A}"/>
              </a:ext>
            </a:extLst>
          </p:cNvPr>
          <p:cNvSpPr txBox="1"/>
          <p:nvPr/>
        </p:nvSpPr>
        <p:spPr>
          <a:xfrm>
            <a:off x="634999" y="1320800"/>
            <a:ext cx="10922000" cy="492443"/>
          </a:xfrm>
          <a:prstGeom prst="rect">
            <a:avLst/>
          </a:prstGeom>
          <a:noFill/>
        </p:spPr>
        <p:txBody>
          <a:bodyPr wrap="square" lIns="0" rIns="0" rtlCol="0">
            <a:spAutoFit/>
          </a:bodyPr>
          <a:lstStyle/>
          <a:p>
            <a:pPr algn="ctr"/>
            <a:r>
              <a:rPr lang="en-IN" sz="2600" b="1">
                <a:solidFill>
                  <a:srgbClr val="000000"/>
                </a:solidFill>
                <a:latin typeface="Times New Roman" panose="02020603050405020304" pitchFamily="18" charset="0"/>
                <a:cs typeface="Times New Roman" panose="02020603050405020304" pitchFamily="18" charset="0"/>
              </a:rPr>
              <a:t>PROBLEM STATEMENT</a:t>
            </a:r>
            <a:endParaRPr lang="en-IN" sz="2600" b="1" dirty="0">
              <a:solidFill>
                <a:srgbClr val="000000"/>
              </a:solidFill>
              <a:latin typeface="Times New Roman" panose="02020603050405020304" pitchFamily="18" charset="0"/>
              <a:cs typeface="Times New Roman" panose="02020603050405020304" pitchFamily="18" charset="0"/>
            </a:endParaRPr>
          </a:p>
        </p:txBody>
      </p:sp>
      <p:sp>
        <p:nvSpPr>
          <p:cNvPr id="4" name="Content 8">
            <a:extLst>
              <a:ext uri="{FF2B5EF4-FFF2-40B4-BE49-F238E27FC236}">
                <a16:creationId xmlns:a16="http://schemas.microsoft.com/office/drawing/2014/main" id="{38BDBD6D-1DD2-6666-D537-DB0E5D7DADBD}"/>
              </a:ext>
            </a:extLst>
          </p:cNvPr>
          <p:cNvSpPr txBox="1"/>
          <p:nvPr/>
        </p:nvSpPr>
        <p:spPr>
          <a:xfrm>
            <a:off x="812800" y="2247899"/>
            <a:ext cx="10477500" cy="609600"/>
          </a:xfrm>
          <a:prstGeom prst="rect">
            <a:avLst/>
          </a:prstGeom>
          <a:noFill/>
        </p:spPr>
        <p:txBody>
          <a:bodyPr vert="horz" wrap="square" lIns="0" tIns="0" rIns="0" bIns="0" rtlCol="0">
            <a:noAutofit/>
          </a:bodyPr>
          <a:lstStyle/>
          <a:p>
            <a:r>
              <a:rPr lang="en-US" sz="3000" b="1">
                <a:solidFill>
                  <a:srgbClr val="182231"/>
                </a:solidFill>
                <a:latin typeface="Arial" panose="020B0604020202020204" pitchFamily="34" charset="0"/>
              </a:rPr>
              <a:t>Business ideas arrive in different forms</a:t>
            </a:r>
            <a:endParaRPr lang="en-IN" sz="3000" b="1">
              <a:solidFill>
                <a:srgbClr val="182231"/>
              </a:solidFill>
              <a:latin typeface="Arial" panose="020B0604020202020204" pitchFamily="34" charset="0"/>
            </a:endParaRPr>
          </a:p>
        </p:txBody>
      </p:sp>
      <p:sp>
        <p:nvSpPr>
          <p:cNvPr id="6" name="Content 9">
            <a:extLst>
              <a:ext uri="{FF2B5EF4-FFF2-40B4-BE49-F238E27FC236}">
                <a16:creationId xmlns:a16="http://schemas.microsoft.com/office/drawing/2014/main" id="{76D393EC-014E-9DFA-3A81-F296DEAD106F}"/>
              </a:ext>
            </a:extLst>
          </p:cNvPr>
          <p:cNvSpPr txBox="1"/>
          <p:nvPr/>
        </p:nvSpPr>
        <p:spPr>
          <a:xfrm>
            <a:off x="838200" y="3200399"/>
            <a:ext cx="4953000" cy="482600"/>
          </a:xfrm>
          <a:prstGeom prst="rect">
            <a:avLst/>
          </a:prstGeom>
          <a:noFill/>
        </p:spPr>
        <p:txBody>
          <a:bodyPr vert="horz" wrap="square" lIns="0" tIns="0" rIns="0" bIns="0" rtlCol="0">
            <a:noAutofit/>
          </a:bodyPr>
          <a:lstStyle/>
          <a:p>
            <a:r>
              <a:rPr lang="en-IN" sz="2600" b="1">
                <a:solidFill>
                  <a:srgbClr val="F41F30"/>
                </a:solidFill>
                <a:latin typeface="Arial" panose="020B0604020202020204" pitchFamily="34" charset="0"/>
              </a:rPr>
              <a:t>Regional speech</a:t>
            </a:r>
          </a:p>
        </p:txBody>
      </p:sp>
      <p:sp>
        <p:nvSpPr>
          <p:cNvPr id="7" name="Content 10">
            <a:extLst>
              <a:ext uri="{FF2B5EF4-FFF2-40B4-BE49-F238E27FC236}">
                <a16:creationId xmlns:a16="http://schemas.microsoft.com/office/drawing/2014/main" id="{B2C893E5-EEAA-7CAA-ABA5-A20A529DB58A}"/>
              </a:ext>
            </a:extLst>
          </p:cNvPr>
          <p:cNvSpPr txBox="1"/>
          <p:nvPr/>
        </p:nvSpPr>
        <p:spPr>
          <a:xfrm>
            <a:off x="838200" y="3746499"/>
            <a:ext cx="5080000" cy="698500"/>
          </a:xfrm>
          <a:prstGeom prst="rect">
            <a:avLst/>
          </a:prstGeom>
          <a:noFill/>
        </p:spPr>
        <p:txBody>
          <a:bodyPr vert="horz" wrap="square" lIns="0" tIns="0" rIns="0" bIns="0" rtlCol="0">
            <a:noAutofit/>
          </a:bodyPr>
          <a:lstStyle/>
          <a:p>
            <a:r>
              <a:rPr lang="en-IN" sz="2100">
                <a:solidFill>
                  <a:srgbClr val="555E68"/>
                </a:solidFill>
                <a:latin typeface="Arial" panose="020B0604020202020204" pitchFamily="34" charset="0"/>
              </a:rPr>
              <a:t>Scanned and handwritten forms</a:t>
            </a:r>
          </a:p>
        </p:txBody>
      </p:sp>
      <p:sp>
        <p:nvSpPr>
          <p:cNvPr id="8" name="Content 11">
            <a:extLst>
              <a:ext uri="{FF2B5EF4-FFF2-40B4-BE49-F238E27FC236}">
                <a16:creationId xmlns:a16="http://schemas.microsoft.com/office/drawing/2014/main" id="{6EFC26B4-E669-B464-799C-0F271B70E059}"/>
              </a:ext>
            </a:extLst>
          </p:cNvPr>
          <p:cNvSpPr txBox="1"/>
          <p:nvPr/>
        </p:nvSpPr>
        <p:spPr>
          <a:xfrm>
            <a:off x="6413500" y="3200399"/>
            <a:ext cx="4953000" cy="482600"/>
          </a:xfrm>
          <a:prstGeom prst="rect">
            <a:avLst/>
          </a:prstGeom>
          <a:noFill/>
        </p:spPr>
        <p:txBody>
          <a:bodyPr vert="horz" wrap="square" lIns="0" tIns="0" rIns="0" bIns="0" rtlCol="0">
            <a:noAutofit/>
          </a:bodyPr>
          <a:lstStyle/>
          <a:p>
            <a:r>
              <a:rPr lang="en-IN" sz="2600" b="1">
                <a:solidFill>
                  <a:srgbClr val="F41F30"/>
                </a:solidFill>
                <a:latin typeface="Arial" panose="020B0604020202020204" pitchFamily="34" charset="0"/>
              </a:rPr>
              <a:t>Incomplete numbers</a:t>
            </a:r>
          </a:p>
        </p:txBody>
      </p:sp>
      <p:sp>
        <p:nvSpPr>
          <p:cNvPr id="9" name="Content 12">
            <a:extLst>
              <a:ext uri="{FF2B5EF4-FFF2-40B4-BE49-F238E27FC236}">
                <a16:creationId xmlns:a16="http://schemas.microsoft.com/office/drawing/2014/main" id="{94180357-7162-4961-7039-042F1F781B61}"/>
              </a:ext>
            </a:extLst>
          </p:cNvPr>
          <p:cNvSpPr txBox="1"/>
          <p:nvPr/>
        </p:nvSpPr>
        <p:spPr>
          <a:xfrm>
            <a:off x="6413500" y="3746499"/>
            <a:ext cx="4889500" cy="838200"/>
          </a:xfrm>
          <a:prstGeom prst="rect">
            <a:avLst/>
          </a:prstGeom>
          <a:noFill/>
        </p:spPr>
        <p:txBody>
          <a:bodyPr vert="horz" wrap="square" lIns="0" tIns="0" rIns="0" bIns="0" rtlCol="0">
            <a:noAutofit/>
          </a:bodyPr>
          <a:lstStyle/>
          <a:p>
            <a:r>
              <a:rPr lang="en-US" sz="2100">
                <a:solidFill>
                  <a:srgbClr val="555E68"/>
                </a:solidFill>
                <a:latin typeface="Arial" panose="020B0604020202020204" pitchFamily="34" charset="0"/>
              </a:rPr>
              <a:t>Conflicting claims and missing context</a:t>
            </a:r>
            <a:endParaRPr lang="en-IN" sz="2100">
              <a:solidFill>
                <a:srgbClr val="555E68"/>
              </a:solidFill>
              <a:latin typeface="Arial" panose="020B0604020202020204" pitchFamily="34" charset="0"/>
            </a:endParaRPr>
          </a:p>
        </p:txBody>
      </p:sp>
      <p:sp>
        <p:nvSpPr>
          <p:cNvPr id="10" name="Content 13">
            <a:extLst>
              <a:ext uri="{FF2B5EF4-FFF2-40B4-BE49-F238E27FC236}">
                <a16:creationId xmlns:a16="http://schemas.microsoft.com/office/drawing/2014/main" id="{8AA0C32E-C6A2-2A3C-C826-71350E45B36D}"/>
              </a:ext>
            </a:extLst>
          </p:cNvPr>
          <p:cNvSpPr txBox="1"/>
          <p:nvPr/>
        </p:nvSpPr>
        <p:spPr>
          <a:xfrm>
            <a:off x="838200" y="5270499"/>
            <a:ext cx="10287000" cy="825500"/>
          </a:xfrm>
          <a:prstGeom prst="rect">
            <a:avLst/>
          </a:prstGeom>
          <a:noFill/>
        </p:spPr>
        <p:txBody>
          <a:bodyPr vert="horz" wrap="square" lIns="0" tIns="0" rIns="0" bIns="0" rtlCol="0">
            <a:noAutofit/>
          </a:bodyPr>
          <a:lstStyle/>
          <a:p>
            <a:r>
              <a:rPr lang="en-US" sz="2600" b="1">
                <a:solidFill>
                  <a:srgbClr val="182231"/>
                </a:solidFill>
                <a:latin typeface="Arial" panose="020B0604020202020204" pitchFamily="34" charset="0"/>
              </a:rPr>
              <a:t>Assessors need comparable evidence and visible uncertainty</a:t>
            </a:r>
            <a:endParaRPr lang="en-IN" sz="2600" b="1">
              <a:solidFill>
                <a:srgbClr val="182231"/>
              </a:solidFill>
              <a:latin typeface="Arial" panose="020B0604020202020204" pitchFamily="34" charset="0"/>
            </a:endParaRPr>
          </a:p>
        </p:txBody>
      </p:sp>
    </p:spTree>
    <p:extLst>
      <p:ext uri="{BB962C8B-B14F-4D97-AF65-F5344CB8AC3E}">
        <p14:creationId xmlns:p14="http://schemas.microsoft.com/office/powerpoint/2010/main" val="16283012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C4F18-C7C5-25E4-908E-302A3B01DCA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A9D77D6-F5E8-AAC2-0E67-539433CC6664}"/>
              </a:ext>
            </a:extLst>
          </p:cNvPr>
          <p:cNvSpPr txBox="1"/>
          <p:nvPr/>
        </p:nvSpPr>
        <p:spPr>
          <a:xfrm>
            <a:off x="3048000" y="3246792"/>
            <a:ext cx="6096000" cy="369332"/>
          </a:xfrm>
          <a:prstGeom prst="rect">
            <a:avLst/>
          </a:prstGeom>
          <a:noFill/>
        </p:spPr>
        <p:txBody>
          <a:bodyPr wrap="square">
            <a:spAutoFit/>
          </a:bodyPr>
          <a:lstStyle/>
          <a:p>
            <a:endParaRPr lang="en-IN"/>
          </a:p>
        </p:txBody>
      </p:sp>
      <p:pic>
        <p:nvPicPr>
          <p:cNvPr id="11" name="Picture 10">
            <a:extLst>
              <a:ext uri="{FF2B5EF4-FFF2-40B4-BE49-F238E27FC236}">
                <a16:creationId xmlns:a16="http://schemas.microsoft.com/office/drawing/2014/main" id="{55C23323-5BAC-59CC-619F-E0BA2A47A4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71625"/>
            <a:ext cx="10359597" cy="5186375"/>
          </a:xfrm>
          <a:prstGeom prst="rect">
            <a:avLst/>
          </a:prstGeom>
        </p:spPr>
      </p:pic>
      <p:pic>
        <p:nvPicPr>
          <p:cNvPr id="3" name="Picture 2">
            <a:extLst>
              <a:ext uri="{FF2B5EF4-FFF2-40B4-BE49-F238E27FC236}">
                <a16:creationId xmlns:a16="http://schemas.microsoft.com/office/drawing/2014/main" id="{0A196132-F602-00B0-E6CD-186C5B6209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913" y="-1"/>
            <a:ext cx="3342967" cy="1671625"/>
          </a:xfrm>
          <a:prstGeom prst="rect">
            <a:avLst/>
          </a:prstGeom>
        </p:spPr>
      </p:pic>
      <p:pic>
        <p:nvPicPr>
          <p:cNvPr id="14" name="Picture 13">
            <a:extLst>
              <a:ext uri="{FF2B5EF4-FFF2-40B4-BE49-F238E27FC236}">
                <a16:creationId xmlns:a16="http://schemas.microsoft.com/office/drawing/2014/main" id="{EBCA599C-D996-1DA7-71DC-A668B5247A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09095" y="231127"/>
            <a:ext cx="1209368" cy="1209368"/>
          </a:xfrm>
          <a:prstGeom prst="rect">
            <a:avLst/>
          </a:prstGeom>
        </p:spPr>
      </p:pic>
      <p:pic>
        <p:nvPicPr>
          <p:cNvPr id="16" name="Picture 15">
            <a:extLst>
              <a:ext uri="{FF2B5EF4-FFF2-40B4-BE49-F238E27FC236}">
                <a16:creationId xmlns:a16="http://schemas.microsoft.com/office/drawing/2014/main" id="{4A8F8822-96BA-4138-9686-32DE554E4375}"/>
              </a:ext>
            </a:extLst>
          </p:cNvPr>
          <p:cNvPicPr>
            <a:picLocks noChangeAspect="1"/>
          </p:cNvPicPr>
          <p:nvPr/>
        </p:nvPicPr>
        <p:blipFill>
          <a:blip r:embed="rId6">
            <a:extLst>
              <a:ext uri="{28A0092B-C50C-407E-A947-70E740481C1C}">
                <a14:useLocalDpi xmlns:a14="http://schemas.microsoft.com/office/drawing/2010/main" val="0"/>
              </a:ext>
            </a:extLst>
          </a:blip>
          <a:srcRect t="15233" b="12420"/>
          <a:stretch>
            <a:fillRect/>
          </a:stretch>
        </p:blipFill>
        <p:spPr>
          <a:xfrm>
            <a:off x="8869852" y="176938"/>
            <a:ext cx="1710813" cy="1209369"/>
          </a:xfrm>
          <a:prstGeom prst="rect">
            <a:avLst/>
          </a:prstGeom>
        </p:spPr>
      </p:pic>
      <p:pic>
        <p:nvPicPr>
          <p:cNvPr id="18" name="Picture 17">
            <a:extLst>
              <a:ext uri="{FF2B5EF4-FFF2-40B4-BE49-F238E27FC236}">
                <a16:creationId xmlns:a16="http://schemas.microsoft.com/office/drawing/2014/main" id="{3D7EEC3C-2E44-AF5E-620B-D8DE99D2081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00629" y="-75234"/>
            <a:ext cx="3640793" cy="1822089"/>
          </a:xfrm>
          <a:prstGeom prst="rect">
            <a:avLst/>
          </a:prstGeom>
        </p:spPr>
      </p:pic>
      <p:sp>
        <p:nvSpPr>
          <p:cNvPr id="2" name="TextBox 1">
            <a:extLst>
              <a:ext uri="{FF2B5EF4-FFF2-40B4-BE49-F238E27FC236}">
                <a16:creationId xmlns:a16="http://schemas.microsoft.com/office/drawing/2014/main" id="{F7A42D71-E47A-1CA2-AE86-872B68DBCD6A}"/>
              </a:ext>
            </a:extLst>
          </p:cNvPr>
          <p:cNvSpPr txBox="1"/>
          <p:nvPr/>
        </p:nvSpPr>
        <p:spPr>
          <a:xfrm>
            <a:off x="635000" y="1320800"/>
            <a:ext cx="10922000" cy="492443"/>
          </a:xfrm>
          <a:prstGeom prst="rect">
            <a:avLst/>
          </a:prstGeom>
          <a:noFill/>
        </p:spPr>
        <p:txBody>
          <a:bodyPr wrap="square" lIns="0" rIns="0" rtlCol="0">
            <a:spAutoFit/>
          </a:bodyPr>
          <a:lstStyle/>
          <a:p>
            <a:pPr lvl="2" algn="ctr"/>
            <a:r>
              <a:rPr lang="en-US" sz="2600" b="1">
                <a:solidFill>
                  <a:srgbClr val="000000"/>
                </a:solidFill>
                <a:latin typeface="Times New Roman" panose="02020603050405020304" pitchFamily="18" charset="0"/>
                <a:cs typeface="Times New Roman" panose="02020603050405020304" pitchFamily="18" charset="0"/>
              </a:rPr>
              <a:t>PROPOSED SOLUTION</a:t>
            </a:r>
            <a:endParaRPr lang="en-IN" sz="2600" b="1" dirty="0">
              <a:solidFill>
                <a:srgbClr val="000000"/>
              </a:solidFill>
              <a:latin typeface="Times New Roman" panose="02020603050405020304" pitchFamily="18" charset="0"/>
              <a:cs typeface="Times New Roman" panose="02020603050405020304" pitchFamily="18" charset="0"/>
            </a:endParaRPr>
          </a:p>
        </p:txBody>
      </p:sp>
      <p:sp>
        <p:nvSpPr>
          <p:cNvPr id="4" name="Content 8">
            <a:extLst>
              <a:ext uri="{FF2B5EF4-FFF2-40B4-BE49-F238E27FC236}">
                <a16:creationId xmlns:a16="http://schemas.microsoft.com/office/drawing/2014/main" id="{03BA4ACB-EE30-C9C0-8AFD-28F671D3C65B}"/>
              </a:ext>
            </a:extLst>
          </p:cNvPr>
          <p:cNvSpPr txBox="1"/>
          <p:nvPr/>
        </p:nvSpPr>
        <p:spPr>
          <a:xfrm>
            <a:off x="812800" y="2324099"/>
            <a:ext cx="5143500" cy="482600"/>
          </a:xfrm>
          <a:prstGeom prst="rect">
            <a:avLst/>
          </a:prstGeom>
          <a:noFill/>
        </p:spPr>
        <p:txBody>
          <a:bodyPr vert="horz" wrap="square" lIns="0" tIns="0" rIns="0" bIns="0" rtlCol="0">
            <a:noAutofit/>
          </a:bodyPr>
          <a:lstStyle/>
          <a:p>
            <a:r>
              <a:rPr lang="en-US" sz="2600" b="1">
                <a:solidFill>
                  <a:srgbClr val="182231"/>
                </a:solidFill>
                <a:latin typeface="Arial" panose="020B0604020202020204" pitchFamily="34" charset="0"/>
              </a:rPr>
              <a:t>Submit in your own format</a:t>
            </a:r>
            <a:endParaRPr lang="en-IN" sz="2600" b="1">
              <a:solidFill>
                <a:srgbClr val="182231"/>
              </a:solidFill>
              <a:latin typeface="Arial" panose="020B0604020202020204" pitchFamily="34" charset="0"/>
            </a:endParaRPr>
          </a:p>
        </p:txBody>
      </p:sp>
      <p:sp>
        <p:nvSpPr>
          <p:cNvPr id="6" name="Content 9">
            <a:extLst>
              <a:ext uri="{FF2B5EF4-FFF2-40B4-BE49-F238E27FC236}">
                <a16:creationId xmlns:a16="http://schemas.microsoft.com/office/drawing/2014/main" id="{14B07DC2-6B85-96D8-E006-A04BA8B1C372}"/>
              </a:ext>
            </a:extLst>
          </p:cNvPr>
          <p:cNvSpPr txBox="1"/>
          <p:nvPr/>
        </p:nvSpPr>
        <p:spPr>
          <a:xfrm>
            <a:off x="812800" y="2870199"/>
            <a:ext cx="5143500" cy="482600"/>
          </a:xfrm>
          <a:prstGeom prst="rect">
            <a:avLst/>
          </a:prstGeom>
          <a:noFill/>
        </p:spPr>
        <p:txBody>
          <a:bodyPr vert="horz" wrap="square" lIns="0" tIns="0" rIns="0" bIns="0" rtlCol="0">
            <a:noAutofit/>
          </a:bodyPr>
          <a:lstStyle/>
          <a:p>
            <a:r>
              <a:rPr lang="en-US" sz="2100">
                <a:solidFill>
                  <a:srgbClr val="555E68"/>
                </a:solidFill>
                <a:latin typeface="Arial" panose="020B0604020202020204" pitchFamily="34" charset="0"/>
              </a:rPr>
              <a:t>Text, PDF or supported audio</a:t>
            </a:r>
            <a:endParaRPr lang="en-IN" sz="2100">
              <a:solidFill>
                <a:srgbClr val="555E68"/>
              </a:solidFill>
              <a:latin typeface="Arial" panose="020B0604020202020204" pitchFamily="34" charset="0"/>
            </a:endParaRPr>
          </a:p>
        </p:txBody>
      </p:sp>
      <p:sp>
        <p:nvSpPr>
          <p:cNvPr id="7" name="Content 10">
            <a:extLst>
              <a:ext uri="{FF2B5EF4-FFF2-40B4-BE49-F238E27FC236}">
                <a16:creationId xmlns:a16="http://schemas.microsoft.com/office/drawing/2014/main" id="{CDD991B7-E369-589A-CD43-AA8AA5D4BBA9}"/>
              </a:ext>
            </a:extLst>
          </p:cNvPr>
          <p:cNvSpPr txBox="1"/>
          <p:nvPr/>
        </p:nvSpPr>
        <p:spPr>
          <a:xfrm>
            <a:off x="812800" y="3632199"/>
            <a:ext cx="5143500" cy="482600"/>
          </a:xfrm>
          <a:prstGeom prst="rect">
            <a:avLst/>
          </a:prstGeom>
          <a:noFill/>
        </p:spPr>
        <p:txBody>
          <a:bodyPr vert="horz" wrap="square" lIns="0" tIns="0" rIns="0" bIns="0" rtlCol="0">
            <a:noAutofit/>
          </a:bodyPr>
          <a:lstStyle/>
          <a:p>
            <a:r>
              <a:rPr lang="en-IN" sz="2600" b="1">
                <a:solidFill>
                  <a:srgbClr val="182231"/>
                </a:solidFill>
                <a:latin typeface="Arial" panose="020B0604020202020204" pitchFamily="34" charset="0"/>
              </a:rPr>
              <a:t>Understand the evidence</a:t>
            </a:r>
          </a:p>
        </p:txBody>
      </p:sp>
      <p:sp>
        <p:nvSpPr>
          <p:cNvPr id="8" name="Content 11">
            <a:extLst>
              <a:ext uri="{FF2B5EF4-FFF2-40B4-BE49-F238E27FC236}">
                <a16:creationId xmlns:a16="http://schemas.microsoft.com/office/drawing/2014/main" id="{796A1F8A-FDC2-7565-F28F-9FA35FF79EEF}"/>
              </a:ext>
            </a:extLst>
          </p:cNvPr>
          <p:cNvSpPr txBox="1"/>
          <p:nvPr/>
        </p:nvSpPr>
        <p:spPr>
          <a:xfrm>
            <a:off x="812800" y="4178299"/>
            <a:ext cx="5143500" cy="762000"/>
          </a:xfrm>
          <a:prstGeom prst="rect">
            <a:avLst/>
          </a:prstGeom>
          <a:noFill/>
        </p:spPr>
        <p:txBody>
          <a:bodyPr vert="horz" wrap="square" lIns="0" tIns="0" rIns="0" bIns="0" rtlCol="0">
            <a:noAutofit/>
          </a:bodyPr>
          <a:lstStyle/>
          <a:p>
            <a:r>
              <a:rPr lang="en-US" sz="2100">
                <a:solidFill>
                  <a:srgbClr val="555E68"/>
                </a:solidFill>
                <a:latin typeface="Arial" panose="020B0604020202020204" pitchFamily="34" charset="0"/>
              </a:rPr>
              <a:t>Source-linked facts and six rating domains</a:t>
            </a:r>
            <a:endParaRPr lang="en-IN" sz="2100">
              <a:solidFill>
                <a:srgbClr val="555E68"/>
              </a:solidFill>
              <a:latin typeface="Arial" panose="020B0604020202020204" pitchFamily="34" charset="0"/>
            </a:endParaRPr>
          </a:p>
        </p:txBody>
      </p:sp>
      <p:sp>
        <p:nvSpPr>
          <p:cNvPr id="9" name="Content 12">
            <a:extLst>
              <a:ext uri="{FF2B5EF4-FFF2-40B4-BE49-F238E27FC236}">
                <a16:creationId xmlns:a16="http://schemas.microsoft.com/office/drawing/2014/main" id="{A337480A-8D02-7F65-FDD7-1B1CE049B5B4}"/>
              </a:ext>
            </a:extLst>
          </p:cNvPr>
          <p:cNvSpPr txBox="1"/>
          <p:nvPr/>
        </p:nvSpPr>
        <p:spPr>
          <a:xfrm>
            <a:off x="812800" y="5194299"/>
            <a:ext cx="5143500" cy="482600"/>
          </a:xfrm>
          <a:prstGeom prst="rect">
            <a:avLst/>
          </a:prstGeom>
          <a:noFill/>
        </p:spPr>
        <p:txBody>
          <a:bodyPr vert="horz" wrap="square" lIns="0" tIns="0" rIns="0" bIns="0" rtlCol="0">
            <a:noAutofit/>
          </a:bodyPr>
          <a:lstStyle/>
          <a:p>
            <a:r>
              <a:rPr lang="en-IN" sz="2600" b="1">
                <a:solidFill>
                  <a:srgbClr val="182231"/>
                </a:solidFill>
                <a:latin typeface="Arial" panose="020B0604020202020204" pitchFamily="34" charset="0"/>
              </a:rPr>
              <a:t>Improve the next version</a:t>
            </a:r>
          </a:p>
        </p:txBody>
      </p:sp>
      <p:sp>
        <p:nvSpPr>
          <p:cNvPr id="10" name="Content 13">
            <a:extLst>
              <a:ext uri="{FF2B5EF4-FFF2-40B4-BE49-F238E27FC236}">
                <a16:creationId xmlns:a16="http://schemas.microsoft.com/office/drawing/2014/main" id="{04C7AB7B-AA48-A82A-8886-CBAFDEA083A2}"/>
              </a:ext>
            </a:extLst>
          </p:cNvPr>
          <p:cNvSpPr txBox="1"/>
          <p:nvPr/>
        </p:nvSpPr>
        <p:spPr>
          <a:xfrm>
            <a:off x="812800" y="5740399"/>
            <a:ext cx="5143500" cy="609600"/>
          </a:xfrm>
          <a:prstGeom prst="rect">
            <a:avLst/>
          </a:prstGeom>
          <a:noFill/>
        </p:spPr>
        <p:txBody>
          <a:bodyPr vert="horz" wrap="square" lIns="0" tIns="0" rIns="0" bIns="0" rtlCol="0">
            <a:noAutofit/>
          </a:bodyPr>
          <a:lstStyle/>
          <a:p>
            <a:r>
              <a:rPr lang="en-US" sz="2100">
                <a:solidFill>
                  <a:srgbClr val="555E68"/>
                </a:solidFill>
                <a:latin typeface="Arial" panose="020B0604020202020204" pitchFamily="34" charset="0"/>
              </a:rPr>
              <a:t>Focused questions and assessor review</a:t>
            </a:r>
            <a:endParaRPr lang="en-IN" sz="2100">
              <a:solidFill>
                <a:srgbClr val="555E68"/>
              </a:solidFill>
              <a:latin typeface="Arial" panose="020B0604020202020204" pitchFamily="34" charset="0"/>
            </a:endParaRPr>
          </a:p>
        </p:txBody>
      </p:sp>
      <p:pic>
        <p:nvPicPr>
          <p:cNvPr id="13" name="Picture 12">
            <a:extLst>
              <a:ext uri="{FF2B5EF4-FFF2-40B4-BE49-F238E27FC236}">
                <a16:creationId xmlns:a16="http://schemas.microsoft.com/office/drawing/2014/main" id="{D2471821-DF42-C9D9-6FC7-A6A2DA4F295B}"/>
              </a:ext>
            </a:extLst>
          </p:cNvPr>
          <p:cNvPicPr>
            <a:picLocks/>
          </p:cNvPicPr>
          <p:nvPr/>
        </p:nvPicPr>
        <p:blipFill>
          <a:blip r:embed="rId8"/>
          <a:srcRect l="6170" t="26155" r="6170" b="55613"/>
          <a:stretch>
            <a:fillRect/>
          </a:stretch>
        </p:blipFill>
        <p:spPr>
          <a:xfrm>
            <a:off x="6413500" y="2247900"/>
            <a:ext cx="4927600" cy="3810000"/>
          </a:xfrm>
          <a:prstGeom prst="rect">
            <a:avLst/>
          </a:prstGeom>
        </p:spPr>
      </p:pic>
      <p:sp>
        <p:nvSpPr>
          <p:cNvPr id="15" name="Content 15">
            <a:extLst>
              <a:ext uri="{FF2B5EF4-FFF2-40B4-BE49-F238E27FC236}">
                <a16:creationId xmlns:a16="http://schemas.microsoft.com/office/drawing/2014/main" id="{9B9E5D07-A03C-3406-37C3-9B392A735A23}"/>
              </a:ext>
            </a:extLst>
          </p:cNvPr>
          <p:cNvSpPr txBox="1"/>
          <p:nvPr/>
        </p:nvSpPr>
        <p:spPr>
          <a:xfrm>
            <a:off x="6413500" y="6159499"/>
            <a:ext cx="4953000" cy="279400"/>
          </a:xfrm>
          <a:prstGeom prst="rect">
            <a:avLst/>
          </a:prstGeom>
          <a:noFill/>
        </p:spPr>
        <p:txBody>
          <a:bodyPr vert="horz" wrap="square" lIns="0" tIns="0" rIns="0" bIns="0" rtlCol="0">
            <a:noAutofit/>
          </a:bodyPr>
          <a:lstStyle/>
          <a:p>
            <a:r>
              <a:rPr lang="en-US" sz="1200">
                <a:solidFill>
                  <a:srgbClr val="555E68"/>
                </a:solidFill>
                <a:latin typeface="Arial" panose="020B0604020202020204" pitchFamily="34" charset="0"/>
              </a:rPr>
              <a:t>Application screenshot (synthetic test data)</a:t>
            </a:r>
            <a:endParaRPr lang="en-IN" sz="1200">
              <a:solidFill>
                <a:srgbClr val="555E68"/>
              </a:solidFill>
              <a:latin typeface="Arial" panose="020B0604020202020204" pitchFamily="34" charset="0"/>
            </a:endParaRPr>
          </a:p>
        </p:txBody>
      </p:sp>
    </p:spTree>
    <p:extLst>
      <p:ext uri="{BB962C8B-B14F-4D97-AF65-F5344CB8AC3E}">
        <p14:creationId xmlns:p14="http://schemas.microsoft.com/office/powerpoint/2010/main" val="2900447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91318-16C9-823B-ABE4-91054E6AFCE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993B43A-801D-D536-782F-14327DA3C509}"/>
              </a:ext>
            </a:extLst>
          </p:cNvPr>
          <p:cNvSpPr txBox="1"/>
          <p:nvPr/>
        </p:nvSpPr>
        <p:spPr>
          <a:xfrm>
            <a:off x="3048000" y="3246792"/>
            <a:ext cx="6096000" cy="369332"/>
          </a:xfrm>
          <a:prstGeom prst="rect">
            <a:avLst/>
          </a:prstGeom>
          <a:noFill/>
        </p:spPr>
        <p:txBody>
          <a:bodyPr wrap="square">
            <a:spAutoFit/>
          </a:bodyPr>
          <a:lstStyle/>
          <a:p>
            <a:endParaRPr lang="en-IN"/>
          </a:p>
        </p:txBody>
      </p:sp>
      <p:pic>
        <p:nvPicPr>
          <p:cNvPr id="11" name="Picture 10">
            <a:extLst>
              <a:ext uri="{FF2B5EF4-FFF2-40B4-BE49-F238E27FC236}">
                <a16:creationId xmlns:a16="http://schemas.microsoft.com/office/drawing/2014/main" id="{286A7BFF-900D-2D96-421A-00C245FA6A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71625"/>
            <a:ext cx="10359597" cy="5186375"/>
          </a:xfrm>
          <a:prstGeom prst="rect">
            <a:avLst/>
          </a:prstGeom>
        </p:spPr>
      </p:pic>
      <p:pic>
        <p:nvPicPr>
          <p:cNvPr id="3" name="Picture 2">
            <a:extLst>
              <a:ext uri="{FF2B5EF4-FFF2-40B4-BE49-F238E27FC236}">
                <a16:creationId xmlns:a16="http://schemas.microsoft.com/office/drawing/2014/main" id="{28998E57-A3D8-8466-B8AB-BA3D22BEC78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913" y="-1"/>
            <a:ext cx="3342967" cy="1671625"/>
          </a:xfrm>
          <a:prstGeom prst="rect">
            <a:avLst/>
          </a:prstGeom>
        </p:spPr>
      </p:pic>
      <p:pic>
        <p:nvPicPr>
          <p:cNvPr id="14" name="Picture 13">
            <a:extLst>
              <a:ext uri="{FF2B5EF4-FFF2-40B4-BE49-F238E27FC236}">
                <a16:creationId xmlns:a16="http://schemas.microsoft.com/office/drawing/2014/main" id="{44C4A1B2-B02D-B0DE-12C4-94582620B8A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09095" y="231127"/>
            <a:ext cx="1209368" cy="1209368"/>
          </a:xfrm>
          <a:prstGeom prst="rect">
            <a:avLst/>
          </a:prstGeom>
        </p:spPr>
      </p:pic>
      <p:pic>
        <p:nvPicPr>
          <p:cNvPr id="16" name="Picture 15">
            <a:extLst>
              <a:ext uri="{FF2B5EF4-FFF2-40B4-BE49-F238E27FC236}">
                <a16:creationId xmlns:a16="http://schemas.microsoft.com/office/drawing/2014/main" id="{BA8BEB0C-C83A-72C9-BBB2-D35EBC7495F8}"/>
              </a:ext>
            </a:extLst>
          </p:cNvPr>
          <p:cNvPicPr>
            <a:picLocks noChangeAspect="1"/>
          </p:cNvPicPr>
          <p:nvPr/>
        </p:nvPicPr>
        <p:blipFill>
          <a:blip r:embed="rId6">
            <a:extLst>
              <a:ext uri="{28A0092B-C50C-407E-A947-70E740481C1C}">
                <a14:useLocalDpi xmlns:a14="http://schemas.microsoft.com/office/drawing/2010/main" val="0"/>
              </a:ext>
            </a:extLst>
          </a:blip>
          <a:srcRect t="15233" b="12420"/>
          <a:stretch>
            <a:fillRect/>
          </a:stretch>
        </p:blipFill>
        <p:spPr>
          <a:xfrm>
            <a:off x="8869852" y="176938"/>
            <a:ext cx="1710813" cy="1209369"/>
          </a:xfrm>
          <a:prstGeom prst="rect">
            <a:avLst/>
          </a:prstGeom>
        </p:spPr>
      </p:pic>
      <p:pic>
        <p:nvPicPr>
          <p:cNvPr id="18" name="Picture 17">
            <a:extLst>
              <a:ext uri="{FF2B5EF4-FFF2-40B4-BE49-F238E27FC236}">
                <a16:creationId xmlns:a16="http://schemas.microsoft.com/office/drawing/2014/main" id="{98F8DF46-FB72-D8CC-E32D-A70A8756E41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00629" y="-75234"/>
            <a:ext cx="3640793" cy="1822089"/>
          </a:xfrm>
          <a:prstGeom prst="rect">
            <a:avLst/>
          </a:prstGeom>
        </p:spPr>
      </p:pic>
      <p:sp>
        <p:nvSpPr>
          <p:cNvPr id="2" name="TextBox 1">
            <a:extLst>
              <a:ext uri="{FF2B5EF4-FFF2-40B4-BE49-F238E27FC236}">
                <a16:creationId xmlns:a16="http://schemas.microsoft.com/office/drawing/2014/main" id="{06B4B0A7-1A4D-B7CD-B1BD-DF3B041B5C5A}"/>
              </a:ext>
            </a:extLst>
          </p:cNvPr>
          <p:cNvSpPr txBox="1"/>
          <p:nvPr/>
        </p:nvSpPr>
        <p:spPr>
          <a:xfrm>
            <a:off x="635000" y="1320800"/>
            <a:ext cx="10922000" cy="492443"/>
          </a:xfrm>
          <a:prstGeom prst="rect">
            <a:avLst/>
          </a:prstGeom>
          <a:noFill/>
        </p:spPr>
        <p:txBody>
          <a:bodyPr wrap="square" lIns="0" rIns="0" rtlCol="0">
            <a:spAutoFit/>
          </a:bodyPr>
          <a:lstStyle/>
          <a:p>
            <a:pPr algn="ctr"/>
            <a:r>
              <a:rPr lang="en-IN" sz="2600" b="1">
                <a:solidFill>
                  <a:srgbClr val="000000"/>
                </a:solidFill>
                <a:latin typeface="Times New Roman" panose="02020603050405020304" pitchFamily="18" charset="0"/>
                <a:cs typeface="Times New Roman" panose="02020603050405020304" pitchFamily="18" charset="0"/>
              </a:rPr>
              <a:t>TECH STACK</a:t>
            </a:r>
            <a:endParaRPr lang="en-IN" sz="2600" b="1" dirty="0">
              <a:solidFill>
                <a:srgbClr val="000000"/>
              </a:solidFill>
              <a:latin typeface="Times New Roman" panose="02020603050405020304" pitchFamily="18" charset="0"/>
              <a:cs typeface="Times New Roman" panose="02020603050405020304" pitchFamily="18" charset="0"/>
            </a:endParaRPr>
          </a:p>
        </p:txBody>
      </p:sp>
      <p:sp>
        <p:nvSpPr>
          <p:cNvPr id="4" name="Content 8">
            <a:extLst>
              <a:ext uri="{FF2B5EF4-FFF2-40B4-BE49-F238E27FC236}">
                <a16:creationId xmlns:a16="http://schemas.microsoft.com/office/drawing/2014/main" id="{9270627F-9475-F45F-EE37-FA754E1222E3}"/>
              </a:ext>
            </a:extLst>
          </p:cNvPr>
          <p:cNvSpPr txBox="1"/>
          <p:nvPr/>
        </p:nvSpPr>
        <p:spPr>
          <a:xfrm>
            <a:off x="825500" y="2209799"/>
            <a:ext cx="5080000" cy="381000"/>
          </a:xfrm>
          <a:prstGeom prst="rect">
            <a:avLst/>
          </a:prstGeom>
          <a:noFill/>
        </p:spPr>
        <p:txBody>
          <a:bodyPr vert="horz" wrap="square" lIns="0" tIns="0" rIns="0" bIns="0" rtlCol="0">
            <a:noAutofit/>
          </a:bodyPr>
          <a:lstStyle/>
          <a:p>
            <a:r>
              <a:rPr lang="en-IN" sz="1600" b="1">
                <a:solidFill>
                  <a:srgbClr val="F41F30"/>
                </a:solidFill>
                <a:latin typeface="Arial" panose="020B0604020202020204" pitchFamily="34" charset="0"/>
              </a:rPr>
              <a:t>APPLICATION</a:t>
            </a:r>
          </a:p>
        </p:txBody>
      </p:sp>
      <p:sp>
        <p:nvSpPr>
          <p:cNvPr id="6" name="Content 9">
            <a:extLst>
              <a:ext uri="{FF2B5EF4-FFF2-40B4-BE49-F238E27FC236}">
                <a16:creationId xmlns:a16="http://schemas.microsoft.com/office/drawing/2014/main" id="{CBF21724-BC41-A502-1F7C-89ABE875A695}"/>
              </a:ext>
            </a:extLst>
          </p:cNvPr>
          <p:cNvSpPr txBox="1"/>
          <p:nvPr/>
        </p:nvSpPr>
        <p:spPr>
          <a:xfrm>
            <a:off x="825500" y="2793999"/>
            <a:ext cx="5080000" cy="457200"/>
          </a:xfrm>
          <a:prstGeom prst="rect">
            <a:avLst/>
          </a:prstGeom>
          <a:noFill/>
        </p:spPr>
        <p:txBody>
          <a:bodyPr vert="horz" wrap="square" lIns="0" tIns="0" rIns="0" bIns="0" rtlCol="0">
            <a:noAutofit/>
          </a:bodyPr>
          <a:lstStyle/>
          <a:p>
            <a:r>
              <a:rPr lang="en-IN" sz="2600" b="1">
                <a:solidFill>
                  <a:srgbClr val="182231"/>
                </a:solidFill>
                <a:latin typeface="Arial" panose="020B0604020202020204" pitchFamily="34" charset="0"/>
              </a:rPr>
              <a:t>React + TypeScript</a:t>
            </a:r>
          </a:p>
        </p:txBody>
      </p:sp>
      <p:sp>
        <p:nvSpPr>
          <p:cNvPr id="7" name="Content 10">
            <a:extLst>
              <a:ext uri="{FF2B5EF4-FFF2-40B4-BE49-F238E27FC236}">
                <a16:creationId xmlns:a16="http://schemas.microsoft.com/office/drawing/2014/main" id="{5338B7A2-8EE2-6AB4-A2B4-7DCF34C75A49}"/>
              </a:ext>
            </a:extLst>
          </p:cNvPr>
          <p:cNvSpPr txBox="1"/>
          <p:nvPr/>
        </p:nvSpPr>
        <p:spPr>
          <a:xfrm>
            <a:off x="825500" y="3289299"/>
            <a:ext cx="5080000" cy="431800"/>
          </a:xfrm>
          <a:prstGeom prst="rect">
            <a:avLst/>
          </a:prstGeom>
          <a:noFill/>
        </p:spPr>
        <p:txBody>
          <a:bodyPr vert="horz" wrap="square" lIns="0" tIns="0" rIns="0" bIns="0" rtlCol="0">
            <a:noAutofit/>
          </a:bodyPr>
          <a:lstStyle/>
          <a:p>
            <a:r>
              <a:rPr lang="en-IN">
                <a:solidFill>
                  <a:srgbClr val="555E68"/>
                </a:solidFill>
                <a:latin typeface="Arial" panose="020B0604020202020204" pitchFamily="34" charset="0"/>
              </a:rPr>
              <a:t>Applicant and assessor workspaces</a:t>
            </a:r>
          </a:p>
        </p:txBody>
      </p:sp>
      <p:sp>
        <p:nvSpPr>
          <p:cNvPr id="8" name="Content 11">
            <a:extLst>
              <a:ext uri="{FF2B5EF4-FFF2-40B4-BE49-F238E27FC236}">
                <a16:creationId xmlns:a16="http://schemas.microsoft.com/office/drawing/2014/main" id="{4E97A503-5A3A-812F-C59F-067F84350BCA}"/>
              </a:ext>
            </a:extLst>
          </p:cNvPr>
          <p:cNvSpPr txBox="1"/>
          <p:nvPr/>
        </p:nvSpPr>
        <p:spPr>
          <a:xfrm>
            <a:off x="825500" y="3975099"/>
            <a:ext cx="5080000" cy="444500"/>
          </a:xfrm>
          <a:prstGeom prst="rect">
            <a:avLst/>
          </a:prstGeom>
          <a:noFill/>
        </p:spPr>
        <p:txBody>
          <a:bodyPr vert="horz" wrap="square" lIns="0" tIns="0" rIns="0" bIns="0" rtlCol="0">
            <a:noAutofit/>
          </a:bodyPr>
          <a:lstStyle/>
          <a:p>
            <a:r>
              <a:rPr lang="en-IN" sz="2600" b="1">
                <a:solidFill>
                  <a:srgbClr val="182231"/>
                </a:solidFill>
                <a:latin typeface="Arial" panose="020B0604020202020204" pitchFamily="34" charset="0"/>
              </a:rPr>
              <a:t>FastAPI</a:t>
            </a:r>
          </a:p>
        </p:txBody>
      </p:sp>
      <p:sp>
        <p:nvSpPr>
          <p:cNvPr id="9" name="Content 12">
            <a:extLst>
              <a:ext uri="{FF2B5EF4-FFF2-40B4-BE49-F238E27FC236}">
                <a16:creationId xmlns:a16="http://schemas.microsoft.com/office/drawing/2014/main" id="{678F497F-1A70-FFB0-32A3-2BCAA750B424}"/>
              </a:ext>
            </a:extLst>
          </p:cNvPr>
          <p:cNvSpPr txBox="1"/>
          <p:nvPr/>
        </p:nvSpPr>
        <p:spPr>
          <a:xfrm>
            <a:off x="825500" y="4457699"/>
            <a:ext cx="5080000" cy="444500"/>
          </a:xfrm>
          <a:prstGeom prst="rect">
            <a:avLst/>
          </a:prstGeom>
          <a:noFill/>
        </p:spPr>
        <p:txBody>
          <a:bodyPr vert="horz" wrap="square" lIns="0" tIns="0" rIns="0" bIns="0" rtlCol="0">
            <a:noAutofit/>
          </a:bodyPr>
          <a:lstStyle/>
          <a:p>
            <a:r>
              <a:rPr lang="en-IN">
                <a:solidFill>
                  <a:srgbClr val="555E68"/>
                </a:solidFill>
                <a:latin typeface="Arial" panose="020B0604020202020204" pitchFamily="34" charset="0"/>
              </a:rPr>
              <a:t>Validation and durable jobs</a:t>
            </a:r>
          </a:p>
        </p:txBody>
      </p:sp>
      <p:sp>
        <p:nvSpPr>
          <p:cNvPr id="10" name="Content 13">
            <a:extLst>
              <a:ext uri="{FF2B5EF4-FFF2-40B4-BE49-F238E27FC236}">
                <a16:creationId xmlns:a16="http://schemas.microsoft.com/office/drawing/2014/main" id="{910B52E0-096E-6943-D23B-2A1E41A19906}"/>
              </a:ext>
            </a:extLst>
          </p:cNvPr>
          <p:cNvSpPr txBox="1"/>
          <p:nvPr/>
        </p:nvSpPr>
        <p:spPr>
          <a:xfrm>
            <a:off x="825500" y="5168899"/>
            <a:ext cx="5334000" cy="457200"/>
          </a:xfrm>
          <a:prstGeom prst="rect">
            <a:avLst/>
          </a:prstGeom>
          <a:noFill/>
        </p:spPr>
        <p:txBody>
          <a:bodyPr vert="horz" wrap="square" lIns="0" tIns="0" rIns="0" bIns="0" rtlCol="0">
            <a:noAutofit/>
          </a:bodyPr>
          <a:lstStyle/>
          <a:p>
            <a:r>
              <a:rPr lang="en-IN" sz="2600" b="1">
                <a:solidFill>
                  <a:srgbClr val="182231"/>
                </a:solidFill>
                <a:latin typeface="Arial" panose="020B0604020202020204" pitchFamily="34" charset="0"/>
              </a:rPr>
              <a:t>Supabase + pgvector</a:t>
            </a:r>
          </a:p>
        </p:txBody>
      </p:sp>
      <p:sp>
        <p:nvSpPr>
          <p:cNvPr id="12" name="Content 14">
            <a:extLst>
              <a:ext uri="{FF2B5EF4-FFF2-40B4-BE49-F238E27FC236}">
                <a16:creationId xmlns:a16="http://schemas.microsoft.com/office/drawing/2014/main" id="{98A9533A-CB0B-0F36-727D-ECDAFBAEC08C}"/>
              </a:ext>
            </a:extLst>
          </p:cNvPr>
          <p:cNvSpPr txBox="1"/>
          <p:nvPr/>
        </p:nvSpPr>
        <p:spPr>
          <a:xfrm>
            <a:off x="825500" y="5664199"/>
            <a:ext cx="5334000" cy="660400"/>
          </a:xfrm>
          <a:prstGeom prst="rect">
            <a:avLst/>
          </a:prstGeom>
          <a:noFill/>
        </p:spPr>
        <p:txBody>
          <a:bodyPr vert="horz" wrap="square" lIns="0" tIns="0" rIns="0" bIns="0" rtlCol="0">
            <a:noAutofit/>
          </a:bodyPr>
          <a:lstStyle/>
          <a:p>
            <a:r>
              <a:rPr lang="en-IN">
                <a:solidFill>
                  <a:srgbClr val="555E68"/>
                </a:solidFill>
                <a:latin typeface="Arial" panose="020B0604020202020204" pitchFamily="34" charset="0"/>
              </a:rPr>
              <a:t>Auth, PostgreSQL, private files, retrieval</a:t>
            </a:r>
          </a:p>
        </p:txBody>
      </p:sp>
      <p:sp>
        <p:nvSpPr>
          <p:cNvPr id="13" name="Content 15">
            <a:extLst>
              <a:ext uri="{FF2B5EF4-FFF2-40B4-BE49-F238E27FC236}">
                <a16:creationId xmlns:a16="http://schemas.microsoft.com/office/drawing/2014/main" id="{A0CFC16E-771B-7825-3026-E1B352817C7E}"/>
              </a:ext>
            </a:extLst>
          </p:cNvPr>
          <p:cNvSpPr txBox="1"/>
          <p:nvPr/>
        </p:nvSpPr>
        <p:spPr>
          <a:xfrm>
            <a:off x="6540500" y="2209799"/>
            <a:ext cx="4889500" cy="381000"/>
          </a:xfrm>
          <a:prstGeom prst="rect">
            <a:avLst/>
          </a:prstGeom>
          <a:noFill/>
        </p:spPr>
        <p:txBody>
          <a:bodyPr vert="horz" wrap="square" lIns="0" tIns="0" rIns="0" bIns="0" rtlCol="0">
            <a:noAutofit/>
          </a:bodyPr>
          <a:lstStyle/>
          <a:p>
            <a:r>
              <a:rPr lang="en-IN" sz="1600" b="1">
                <a:solidFill>
                  <a:srgbClr val="F41F30"/>
                </a:solidFill>
                <a:latin typeface="Arial" panose="020B0604020202020204" pitchFamily="34" charset="0"/>
              </a:rPr>
              <a:t>LOCAL PRETRAINED MODELS</a:t>
            </a:r>
          </a:p>
        </p:txBody>
      </p:sp>
      <p:sp>
        <p:nvSpPr>
          <p:cNvPr id="15" name="Content 16">
            <a:extLst>
              <a:ext uri="{FF2B5EF4-FFF2-40B4-BE49-F238E27FC236}">
                <a16:creationId xmlns:a16="http://schemas.microsoft.com/office/drawing/2014/main" id="{9E7DD3E9-5F31-65B7-0E27-A5ACEBC21073}"/>
              </a:ext>
            </a:extLst>
          </p:cNvPr>
          <p:cNvSpPr txBox="1"/>
          <p:nvPr/>
        </p:nvSpPr>
        <p:spPr>
          <a:xfrm>
            <a:off x="6540500" y="2793999"/>
            <a:ext cx="4889500" cy="457200"/>
          </a:xfrm>
          <a:prstGeom prst="rect">
            <a:avLst/>
          </a:prstGeom>
          <a:noFill/>
        </p:spPr>
        <p:txBody>
          <a:bodyPr vert="horz" wrap="square" lIns="0" tIns="0" rIns="0" bIns="0" rtlCol="0">
            <a:noAutofit/>
          </a:bodyPr>
          <a:lstStyle/>
          <a:p>
            <a:r>
              <a:rPr lang="en-IN" sz="2600" b="1">
                <a:solidFill>
                  <a:srgbClr val="182231"/>
                </a:solidFill>
                <a:latin typeface="Arial" panose="020B0604020202020204" pitchFamily="34" charset="0"/>
              </a:rPr>
              <a:t>Qwen3-VL 2B</a:t>
            </a:r>
          </a:p>
        </p:txBody>
      </p:sp>
      <p:sp>
        <p:nvSpPr>
          <p:cNvPr id="17" name="Content 17">
            <a:extLst>
              <a:ext uri="{FF2B5EF4-FFF2-40B4-BE49-F238E27FC236}">
                <a16:creationId xmlns:a16="http://schemas.microsoft.com/office/drawing/2014/main" id="{F8600514-C042-7911-B583-59677EBE0213}"/>
              </a:ext>
            </a:extLst>
          </p:cNvPr>
          <p:cNvSpPr txBox="1"/>
          <p:nvPr/>
        </p:nvSpPr>
        <p:spPr>
          <a:xfrm>
            <a:off x="6540500" y="3289299"/>
            <a:ext cx="4889500" cy="571500"/>
          </a:xfrm>
          <a:prstGeom prst="rect">
            <a:avLst/>
          </a:prstGeom>
          <a:noFill/>
        </p:spPr>
        <p:txBody>
          <a:bodyPr vert="horz" wrap="square" lIns="0" tIns="0" rIns="0" bIns="0" rtlCol="0">
            <a:noAutofit/>
          </a:bodyPr>
          <a:lstStyle/>
          <a:p>
            <a:r>
              <a:rPr lang="en-US">
                <a:solidFill>
                  <a:srgbClr val="555E68"/>
                </a:solidFill>
                <a:latin typeface="Arial" panose="020B0604020202020204" pitchFamily="34" charset="0"/>
              </a:rPr>
              <a:t>Structured facts and domain judgments</a:t>
            </a:r>
            <a:endParaRPr lang="en-IN">
              <a:solidFill>
                <a:srgbClr val="555E68"/>
              </a:solidFill>
              <a:latin typeface="Arial" panose="020B0604020202020204" pitchFamily="34" charset="0"/>
            </a:endParaRPr>
          </a:p>
        </p:txBody>
      </p:sp>
      <p:sp>
        <p:nvSpPr>
          <p:cNvPr id="19" name="Content 18">
            <a:extLst>
              <a:ext uri="{FF2B5EF4-FFF2-40B4-BE49-F238E27FC236}">
                <a16:creationId xmlns:a16="http://schemas.microsoft.com/office/drawing/2014/main" id="{149D7720-6B57-F982-9709-4A416620E70D}"/>
              </a:ext>
            </a:extLst>
          </p:cNvPr>
          <p:cNvSpPr txBox="1"/>
          <p:nvPr/>
        </p:nvSpPr>
        <p:spPr>
          <a:xfrm>
            <a:off x="6540500" y="3975099"/>
            <a:ext cx="4889500" cy="444500"/>
          </a:xfrm>
          <a:prstGeom prst="rect">
            <a:avLst/>
          </a:prstGeom>
          <a:noFill/>
        </p:spPr>
        <p:txBody>
          <a:bodyPr vert="horz" wrap="square" lIns="0" tIns="0" rIns="0" bIns="0" rtlCol="0">
            <a:noAutofit/>
          </a:bodyPr>
          <a:lstStyle/>
          <a:p>
            <a:r>
              <a:rPr lang="en-IN" sz="2500" b="1">
                <a:solidFill>
                  <a:srgbClr val="182231"/>
                </a:solidFill>
                <a:latin typeface="Arial" panose="020B0604020202020204" pitchFamily="34" charset="0"/>
              </a:rPr>
              <a:t>Whisper + PaddleOCR</a:t>
            </a:r>
          </a:p>
        </p:txBody>
      </p:sp>
      <p:sp>
        <p:nvSpPr>
          <p:cNvPr id="20" name="Content 19">
            <a:extLst>
              <a:ext uri="{FF2B5EF4-FFF2-40B4-BE49-F238E27FC236}">
                <a16:creationId xmlns:a16="http://schemas.microsoft.com/office/drawing/2014/main" id="{CF99BE5C-CA1F-5A8A-3521-6C0607CEBA75}"/>
              </a:ext>
            </a:extLst>
          </p:cNvPr>
          <p:cNvSpPr txBox="1"/>
          <p:nvPr/>
        </p:nvSpPr>
        <p:spPr>
          <a:xfrm>
            <a:off x="6540500" y="4457699"/>
            <a:ext cx="4889500" cy="444500"/>
          </a:xfrm>
          <a:prstGeom prst="rect">
            <a:avLst/>
          </a:prstGeom>
          <a:noFill/>
        </p:spPr>
        <p:txBody>
          <a:bodyPr vert="horz" wrap="square" lIns="0" tIns="0" rIns="0" bIns="0" rtlCol="0">
            <a:noAutofit/>
          </a:bodyPr>
          <a:lstStyle/>
          <a:p>
            <a:r>
              <a:rPr lang="en-IN">
                <a:solidFill>
                  <a:srgbClr val="555E68"/>
                </a:solidFill>
                <a:latin typeface="Arial" panose="020B0604020202020204" pitchFamily="34" charset="0"/>
              </a:rPr>
              <a:t>Speech and scanned documents</a:t>
            </a:r>
          </a:p>
        </p:txBody>
      </p:sp>
      <p:sp>
        <p:nvSpPr>
          <p:cNvPr id="21" name="Content 20">
            <a:extLst>
              <a:ext uri="{FF2B5EF4-FFF2-40B4-BE49-F238E27FC236}">
                <a16:creationId xmlns:a16="http://schemas.microsoft.com/office/drawing/2014/main" id="{82FDCDA6-FF7D-E608-5A8F-1FCC6E9C9B7A}"/>
              </a:ext>
            </a:extLst>
          </p:cNvPr>
          <p:cNvSpPr txBox="1"/>
          <p:nvPr/>
        </p:nvSpPr>
        <p:spPr>
          <a:xfrm>
            <a:off x="6540500" y="5168899"/>
            <a:ext cx="4889500" cy="457200"/>
          </a:xfrm>
          <a:prstGeom prst="rect">
            <a:avLst/>
          </a:prstGeom>
          <a:noFill/>
        </p:spPr>
        <p:txBody>
          <a:bodyPr vert="horz" wrap="square" lIns="0" tIns="0" rIns="0" bIns="0" rtlCol="0">
            <a:noAutofit/>
          </a:bodyPr>
          <a:lstStyle/>
          <a:p>
            <a:r>
              <a:rPr lang="en-IN" sz="2600" b="1">
                <a:solidFill>
                  <a:srgbClr val="182231"/>
                </a:solidFill>
                <a:latin typeface="Arial" panose="020B0604020202020204" pitchFamily="34" charset="0"/>
              </a:rPr>
              <a:t>NLLB + MiniLM</a:t>
            </a:r>
          </a:p>
        </p:txBody>
      </p:sp>
      <p:sp>
        <p:nvSpPr>
          <p:cNvPr id="22" name="Content 21">
            <a:extLst>
              <a:ext uri="{FF2B5EF4-FFF2-40B4-BE49-F238E27FC236}">
                <a16:creationId xmlns:a16="http://schemas.microsoft.com/office/drawing/2014/main" id="{65BF02CC-EC0A-BDD5-04A4-9DE03EB19AD4}"/>
              </a:ext>
            </a:extLst>
          </p:cNvPr>
          <p:cNvSpPr txBox="1"/>
          <p:nvPr/>
        </p:nvSpPr>
        <p:spPr>
          <a:xfrm>
            <a:off x="6540500" y="5664199"/>
            <a:ext cx="4889500" cy="660400"/>
          </a:xfrm>
          <a:prstGeom prst="rect">
            <a:avLst/>
          </a:prstGeom>
          <a:noFill/>
        </p:spPr>
        <p:txBody>
          <a:bodyPr vert="horz" wrap="square" lIns="0" tIns="0" rIns="0" bIns="0" rtlCol="0">
            <a:noAutofit/>
          </a:bodyPr>
          <a:lstStyle/>
          <a:p>
            <a:r>
              <a:rPr lang="en-IN">
                <a:solidFill>
                  <a:srgbClr val="555E68"/>
                </a:solidFill>
                <a:latin typeface="Arial" panose="020B0604020202020204" pitchFamily="34" charset="0"/>
              </a:rPr>
              <a:t>Translation and semantic similarity</a:t>
            </a:r>
          </a:p>
        </p:txBody>
      </p:sp>
    </p:spTree>
    <p:extLst>
      <p:ext uri="{BB962C8B-B14F-4D97-AF65-F5344CB8AC3E}">
        <p14:creationId xmlns:p14="http://schemas.microsoft.com/office/powerpoint/2010/main" val="3702446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4CC58-BFB7-2891-12E2-D6897F11924C}"/>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C56353D-F9B9-704D-DEF9-8CB039E5D82C}"/>
              </a:ext>
            </a:extLst>
          </p:cNvPr>
          <p:cNvSpPr txBox="1"/>
          <p:nvPr/>
        </p:nvSpPr>
        <p:spPr>
          <a:xfrm>
            <a:off x="3048000" y="3246792"/>
            <a:ext cx="6096000" cy="369332"/>
          </a:xfrm>
          <a:prstGeom prst="rect">
            <a:avLst/>
          </a:prstGeom>
          <a:noFill/>
        </p:spPr>
        <p:txBody>
          <a:bodyPr wrap="square">
            <a:spAutoFit/>
          </a:bodyPr>
          <a:lstStyle/>
          <a:p>
            <a:endParaRPr lang="en-IN"/>
          </a:p>
        </p:txBody>
      </p:sp>
      <p:pic>
        <p:nvPicPr>
          <p:cNvPr id="11" name="Picture 10">
            <a:extLst>
              <a:ext uri="{FF2B5EF4-FFF2-40B4-BE49-F238E27FC236}">
                <a16:creationId xmlns:a16="http://schemas.microsoft.com/office/drawing/2014/main" id="{B828C6D6-0017-7C05-E255-AC84DB1966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71625"/>
            <a:ext cx="10359597" cy="5186375"/>
          </a:xfrm>
          <a:prstGeom prst="rect">
            <a:avLst/>
          </a:prstGeom>
        </p:spPr>
      </p:pic>
      <p:pic>
        <p:nvPicPr>
          <p:cNvPr id="3" name="Picture 2">
            <a:extLst>
              <a:ext uri="{FF2B5EF4-FFF2-40B4-BE49-F238E27FC236}">
                <a16:creationId xmlns:a16="http://schemas.microsoft.com/office/drawing/2014/main" id="{A70DD10E-E45E-C2AE-122F-730953E6B1C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913" y="-1"/>
            <a:ext cx="3342967" cy="1671625"/>
          </a:xfrm>
          <a:prstGeom prst="rect">
            <a:avLst/>
          </a:prstGeom>
        </p:spPr>
      </p:pic>
      <p:pic>
        <p:nvPicPr>
          <p:cNvPr id="14" name="Picture 13">
            <a:extLst>
              <a:ext uri="{FF2B5EF4-FFF2-40B4-BE49-F238E27FC236}">
                <a16:creationId xmlns:a16="http://schemas.microsoft.com/office/drawing/2014/main" id="{13116F9E-1AD1-2951-5265-BDF16898B4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09095" y="231127"/>
            <a:ext cx="1209368" cy="1209368"/>
          </a:xfrm>
          <a:prstGeom prst="rect">
            <a:avLst/>
          </a:prstGeom>
        </p:spPr>
      </p:pic>
      <p:pic>
        <p:nvPicPr>
          <p:cNvPr id="16" name="Picture 15">
            <a:extLst>
              <a:ext uri="{FF2B5EF4-FFF2-40B4-BE49-F238E27FC236}">
                <a16:creationId xmlns:a16="http://schemas.microsoft.com/office/drawing/2014/main" id="{37C99CCE-A56D-B8AC-6A28-67CF9B431216}"/>
              </a:ext>
            </a:extLst>
          </p:cNvPr>
          <p:cNvPicPr>
            <a:picLocks noChangeAspect="1"/>
          </p:cNvPicPr>
          <p:nvPr/>
        </p:nvPicPr>
        <p:blipFill>
          <a:blip r:embed="rId6">
            <a:extLst>
              <a:ext uri="{28A0092B-C50C-407E-A947-70E740481C1C}">
                <a14:useLocalDpi xmlns:a14="http://schemas.microsoft.com/office/drawing/2010/main" val="0"/>
              </a:ext>
            </a:extLst>
          </a:blip>
          <a:srcRect t="15233" b="12420"/>
          <a:stretch>
            <a:fillRect/>
          </a:stretch>
        </p:blipFill>
        <p:spPr>
          <a:xfrm>
            <a:off x="8869852" y="176938"/>
            <a:ext cx="1710813" cy="1209369"/>
          </a:xfrm>
          <a:prstGeom prst="rect">
            <a:avLst/>
          </a:prstGeom>
        </p:spPr>
      </p:pic>
      <p:pic>
        <p:nvPicPr>
          <p:cNvPr id="18" name="Picture 17">
            <a:extLst>
              <a:ext uri="{FF2B5EF4-FFF2-40B4-BE49-F238E27FC236}">
                <a16:creationId xmlns:a16="http://schemas.microsoft.com/office/drawing/2014/main" id="{A9DEC80D-6E8A-B816-7316-FCBE2589562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00629" y="-75234"/>
            <a:ext cx="3640793" cy="1822089"/>
          </a:xfrm>
          <a:prstGeom prst="rect">
            <a:avLst/>
          </a:prstGeom>
        </p:spPr>
      </p:pic>
      <p:sp>
        <p:nvSpPr>
          <p:cNvPr id="4" name="TextBox 3">
            <a:extLst>
              <a:ext uri="{FF2B5EF4-FFF2-40B4-BE49-F238E27FC236}">
                <a16:creationId xmlns:a16="http://schemas.microsoft.com/office/drawing/2014/main" id="{9DF0F676-5160-07E1-CF07-B6814F116C99}"/>
              </a:ext>
            </a:extLst>
          </p:cNvPr>
          <p:cNvSpPr txBox="1"/>
          <p:nvPr/>
        </p:nvSpPr>
        <p:spPr>
          <a:xfrm>
            <a:off x="634999" y="1320800"/>
            <a:ext cx="10922000" cy="492443"/>
          </a:xfrm>
          <a:prstGeom prst="rect">
            <a:avLst/>
          </a:prstGeom>
          <a:noFill/>
        </p:spPr>
        <p:txBody>
          <a:bodyPr wrap="square" lIns="0" rIns="0">
            <a:spAutoFit/>
          </a:bodyPr>
          <a:lstStyle/>
          <a:p>
            <a:pPr algn="ctr"/>
            <a:r>
              <a:rPr lang="en-IN" sz="2600" b="1">
                <a:solidFill>
                  <a:srgbClr val="000000"/>
                </a:solidFill>
                <a:latin typeface="Times New Roman" panose="02020603050405020304" pitchFamily="18" charset="0"/>
                <a:cs typeface="Times New Roman" panose="02020603050405020304" pitchFamily="18" charset="0"/>
              </a:rPr>
              <a:t>TECHNICAL APPROACH</a:t>
            </a:r>
            <a:endParaRPr lang="en-IN" sz="2600" b="1" dirty="0">
              <a:solidFill>
                <a:srgbClr val="000000"/>
              </a:solidFill>
              <a:latin typeface="Times New Roman" panose="02020603050405020304" pitchFamily="18" charset="0"/>
              <a:cs typeface="Times New Roman" panose="02020603050405020304" pitchFamily="18" charset="0"/>
            </a:endParaRPr>
          </a:p>
        </p:txBody>
      </p:sp>
      <p:sp>
        <p:nvSpPr>
          <p:cNvPr id="2" name="Content 8">
            <a:extLst>
              <a:ext uri="{FF2B5EF4-FFF2-40B4-BE49-F238E27FC236}">
                <a16:creationId xmlns:a16="http://schemas.microsoft.com/office/drawing/2014/main" id="{9D98B9A6-60A5-898C-1E8F-D697A65626B3}"/>
              </a:ext>
            </a:extLst>
          </p:cNvPr>
          <p:cNvSpPr txBox="1"/>
          <p:nvPr/>
        </p:nvSpPr>
        <p:spPr>
          <a:xfrm>
            <a:off x="812800" y="2349499"/>
            <a:ext cx="2222500" cy="635000"/>
          </a:xfrm>
          <a:prstGeom prst="rect">
            <a:avLst/>
          </a:prstGeom>
          <a:noFill/>
        </p:spPr>
        <p:txBody>
          <a:bodyPr vert="horz" wrap="square" lIns="0" tIns="0" rIns="0" bIns="0" rtlCol="0">
            <a:noAutofit/>
          </a:bodyPr>
          <a:lstStyle/>
          <a:p>
            <a:r>
              <a:rPr lang="en-IN" sz="3400" b="1">
                <a:solidFill>
                  <a:srgbClr val="F41F30"/>
                </a:solidFill>
                <a:latin typeface="Arial" panose="020B0604020202020204" pitchFamily="34" charset="0"/>
              </a:rPr>
              <a:t>01</a:t>
            </a:r>
          </a:p>
        </p:txBody>
      </p:sp>
      <p:sp>
        <p:nvSpPr>
          <p:cNvPr id="6" name="Content 9">
            <a:extLst>
              <a:ext uri="{FF2B5EF4-FFF2-40B4-BE49-F238E27FC236}">
                <a16:creationId xmlns:a16="http://schemas.microsoft.com/office/drawing/2014/main" id="{FC179E96-7E12-1287-962B-F518C81F98AB}"/>
              </a:ext>
            </a:extLst>
          </p:cNvPr>
          <p:cNvSpPr txBox="1"/>
          <p:nvPr/>
        </p:nvSpPr>
        <p:spPr>
          <a:xfrm>
            <a:off x="812800" y="3073399"/>
            <a:ext cx="2286000" cy="508000"/>
          </a:xfrm>
          <a:prstGeom prst="rect">
            <a:avLst/>
          </a:prstGeom>
          <a:noFill/>
        </p:spPr>
        <p:txBody>
          <a:bodyPr vert="horz" wrap="square" lIns="0" tIns="0" rIns="0" bIns="0" rtlCol="0">
            <a:noAutofit/>
          </a:bodyPr>
          <a:lstStyle/>
          <a:p>
            <a:r>
              <a:rPr lang="en-IN" sz="2700" b="1">
                <a:solidFill>
                  <a:srgbClr val="182231"/>
                </a:solidFill>
                <a:latin typeface="Arial" panose="020B0604020202020204" pitchFamily="34" charset="0"/>
              </a:rPr>
              <a:t>Extract</a:t>
            </a:r>
          </a:p>
        </p:txBody>
      </p:sp>
      <p:sp>
        <p:nvSpPr>
          <p:cNvPr id="7" name="Content 10">
            <a:extLst>
              <a:ext uri="{FF2B5EF4-FFF2-40B4-BE49-F238E27FC236}">
                <a16:creationId xmlns:a16="http://schemas.microsoft.com/office/drawing/2014/main" id="{32F31D80-FB6F-7CD5-C99D-1B3DFDA9FC11}"/>
              </a:ext>
            </a:extLst>
          </p:cNvPr>
          <p:cNvSpPr txBox="1"/>
          <p:nvPr/>
        </p:nvSpPr>
        <p:spPr>
          <a:xfrm>
            <a:off x="812800" y="3670299"/>
            <a:ext cx="2286000" cy="889000"/>
          </a:xfrm>
          <a:prstGeom prst="rect">
            <a:avLst/>
          </a:prstGeom>
          <a:noFill/>
        </p:spPr>
        <p:txBody>
          <a:bodyPr vert="horz" wrap="square" lIns="0" tIns="0" rIns="0" bIns="0" rtlCol="0">
            <a:noAutofit/>
          </a:bodyPr>
          <a:lstStyle/>
          <a:p>
            <a:r>
              <a:rPr lang="en-IN" sz="2000">
                <a:solidFill>
                  <a:srgbClr val="555E68"/>
                </a:solidFill>
                <a:latin typeface="Arial" panose="020B0604020202020204" pitchFamily="34" charset="0"/>
              </a:rPr>
              <a:t>Text, PDF or audio</a:t>
            </a:r>
          </a:p>
        </p:txBody>
      </p:sp>
      <p:sp>
        <p:nvSpPr>
          <p:cNvPr id="8" name="Content 11">
            <a:extLst>
              <a:ext uri="{FF2B5EF4-FFF2-40B4-BE49-F238E27FC236}">
                <a16:creationId xmlns:a16="http://schemas.microsoft.com/office/drawing/2014/main" id="{2F657D9F-689A-2433-E366-9DEC8B9B223E}"/>
              </a:ext>
            </a:extLst>
          </p:cNvPr>
          <p:cNvSpPr txBox="1"/>
          <p:nvPr/>
        </p:nvSpPr>
        <p:spPr>
          <a:xfrm>
            <a:off x="3581400" y="2349499"/>
            <a:ext cx="2222500" cy="635000"/>
          </a:xfrm>
          <a:prstGeom prst="rect">
            <a:avLst/>
          </a:prstGeom>
          <a:noFill/>
        </p:spPr>
        <p:txBody>
          <a:bodyPr vert="horz" wrap="square" lIns="0" tIns="0" rIns="0" bIns="0" rtlCol="0">
            <a:noAutofit/>
          </a:bodyPr>
          <a:lstStyle/>
          <a:p>
            <a:r>
              <a:rPr lang="en-IN" sz="3400" b="1">
                <a:solidFill>
                  <a:srgbClr val="F41F30"/>
                </a:solidFill>
                <a:latin typeface="Arial" panose="020B0604020202020204" pitchFamily="34" charset="0"/>
              </a:rPr>
              <a:t>02</a:t>
            </a:r>
          </a:p>
        </p:txBody>
      </p:sp>
      <p:sp>
        <p:nvSpPr>
          <p:cNvPr id="9" name="Content 12">
            <a:extLst>
              <a:ext uri="{FF2B5EF4-FFF2-40B4-BE49-F238E27FC236}">
                <a16:creationId xmlns:a16="http://schemas.microsoft.com/office/drawing/2014/main" id="{AC4F42F4-5405-2C05-F622-5BCC3FFB1F1C}"/>
              </a:ext>
            </a:extLst>
          </p:cNvPr>
          <p:cNvSpPr txBox="1"/>
          <p:nvPr/>
        </p:nvSpPr>
        <p:spPr>
          <a:xfrm>
            <a:off x="3581400" y="3073399"/>
            <a:ext cx="2286000" cy="508000"/>
          </a:xfrm>
          <a:prstGeom prst="rect">
            <a:avLst/>
          </a:prstGeom>
          <a:noFill/>
        </p:spPr>
        <p:txBody>
          <a:bodyPr vert="horz" wrap="square" lIns="0" tIns="0" rIns="0" bIns="0" rtlCol="0">
            <a:noAutofit/>
          </a:bodyPr>
          <a:lstStyle/>
          <a:p>
            <a:r>
              <a:rPr lang="en-IN" sz="2700" b="1">
                <a:solidFill>
                  <a:srgbClr val="182231"/>
                </a:solidFill>
                <a:latin typeface="Arial" panose="020B0604020202020204" pitchFamily="34" charset="0"/>
              </a:rPr>
              <a:t>Translate</a:t>
            </a:r>
          </a:p>
        </p:txBody>
      </p:sp>
      <p:sp>
        <p:nvSpPr>
          <p:cNvPr id="10" name="Content 13">
            <a:extLst>
              <a:ext uri="{FF2B5EF4-FFF2-40B4-BE49-F238E27FC236}">
                <a16:creationId xmlns:a16="http://schemas.microsoft.com/office/drawing/2014/main" id="{423DD9C4-9BA1-C52F-7144-A1E9C0BB3BE0}"/>
              </a:ext>
            </a:extLst>
          </p:cNvPr>
          <p:cNvSpPr txBox="1"/>
          <p:nvPr/>
        </p:nvSpPr>
        <p:spPr>
          <a:xfrm>
            <a:off x="3581400" y="3670299"/>
            <a:ext cx="2286000" cy="889000"/>
          </a:xfrm>
          <a:prstGeom prst="rect">
            <a:avLst/>
          </a:prstGeom>
          <a:noFill/>
        </p:spPr>
        <p:txBody>
          <a:bodyPr vert="horz" wrap="square" lIns="0" tIns="0" rIns="0" bIns="0" rtlCol="0">
            <a:noAutofit/>
          </a:bodyPr>
          <a:lstStyle/>
          <a:p>
            <a:r>
              <a:rPr lang="en-IN" sz="2000">
                <a:solidFill>
                  <a:srgbClr val="555E68"/>
                </a:solidFill>
                <a:latin typeface="Arial" panose="020B0604020202020204" pitchFamily="34" charset="0"/>
              </a:rPr>
              <a:t>Keep original sources</a:t>
            </a:r>
          </a:p>
        </p:txBody>
      </p:sp>
      <p:sp>
        <p:nvSpPr>
          <p:cNvPr id="12" name="Content 14">
            <a:extLst>
              <a:ext uri="{FF2B5EF4-FFF2-40B4-BE49-F238E27FC236}">
                <a16:creationId xmlns:a16="http://schemas.microsoft.com/office/drawing/2014/main" id="{736ECD04-69ED-7630-A11D-11DE28471138}"/>
              </a:ext>
            </a:extLst>
          </p:cNvPr>
          <p:cNvSpPr txBox="1"/>
          <p:nvPr/>
        </p:nvSpPr>
        <p:spPr>
          <a:xfrm>
            <a:off x="6350000" y="2349499"/>
            <a:ext cx="2222500" cy="635000"/>
          </a:xfrm>
          <a:prstGeom prst="rect">
            <a:avLst/>
          </a:prstGeom>
          <a:noFill/>
        </p:spPr>
        <p:txBody>
          <a:bodyPr vert="horz" wrap="square" lIns="0" tIns="0" rIns="0" bIns="0" rtlCol="0">
            <a:noAutofit/>
          </a:bodyPr>
          <a:lstStyle/>
          <a:p>
            <a:r>
              <a:rPr lang="en-IN" sz="3400" b="1">
                <a:solidFill>
                  <a:srgbClr val="F41F30"/>
                </a:solidFill>
                <a:latin typeface="Arial" panose="020B0604020202020204" pitchFamily="34" charset="0"/>
              </a:rPr>
              <a:t>03</a:t>
            </a:r>
          </a:p>
        </p:txBody>
      </p:sp>
      <p:sp>
        <p:nvSpPr>
          <p:cNvPr id="13" name="Content 15">
            <a:extLst>
              <a:ext uri="{FF2B5EF4-FFF2-40B4-BE49-F238E27FC236}">
                <a16:creationId xmlns:a16="http://schemas.microsoft.com/office/drawing/2014/main" id="{2517ED76-7098-E95F-DA20-2476077CCAC5}"/>
              </a:ext>
            </a:extLst>
          </p:cNvPr>
          <p:cNvSpPr txBox="1"/>
          <p:nvPr/>
        </p:nvSpPr>
        <p:spPr>
          <a:xfrm>
            <a:off x="6350000" y="3073399"/>
            <a:ext cx="2286000" cy="508000"/>
          </a:xfrm>
          <a:prstGeom prst="rect">
            <a:avLst/>
          </a:prstGeom>
          <a:noFill/>
        </p:spPr>
        <p:txBody>
          <a:bodyPr vert="horz" wrap="square" lIns="0" tIns="0" rIns="0" bIns="0" rtlCol="0">
            <a:noAutofit/>
          </a:bodyPr>
          <a:lstStyle/>
          <a:p>
            <a:r>
              <a:rPr lang="en-IN" sz="2700" b="1">
                <a:solidFill>
                  <a:srgbClr val="182231"/>
                </a:solidFill>
                <a:latin typeface="Arial" panose="020B0604020202020204" pitchFamily="34" charset="0"/>
              </a:rPr>
              <a:t>Structure</a:t>
            </a:r>
          </a:p>
        </p:txBody>
      </p:sp>
      <p:sp>
        <p:nvSpPr>
          <p:cNvPr id="15" name="Content 16">
            <a:extLst>
              <a:ext uri="{FF2B5EF4-FFF2-40B4-BE49-F238E27FC236}">
                <a16:creationId xmlns:a16="http://schemas.microsoft.com/office/drawing/2014/main" id="{34846AF3-348B-924A-2EB9-7C2CCA076725}"/>
              </a:ext>
            </a:extLst>
          </p:cNvPr>
          <p:cNvSpPr txBox="1"/>
          <p:nvPr/>
        </p:nvSpPr>
        <p:spPr>
          <a:xfrm>
            <a:off x="6350000" y="3670299"/>
            <a:ext cx="2286000" cy="889000"/>
          </a:xfrm>
          <a:prstGeom prst="rect">
            <a:avLst/>
          </a:prstGeom>
          <a:noFill/>
        </p:spPr>
        <p:txBody>
          <a:bodyPr vert="horz" wrap="square" lIns="0" tIns="0" rIns="0" bIns="0" rtlCol="0">
            <a:noAutofit/>
          </a:bodyPr>
          <a:lstStyle/>
          <a:p>
            <a:r>
              <a:rPr lang="en-IN" sz="2000">
                <a:solidFill>
                  <a:srgbClr val="555E68"/>
                </a:solidFill>
                <a:latin typeface="Arial" panose="020B0604020202020204" pitchFamily="34" charset="0"/>
              </a:rPr>
              <a:t>Validate fields and quotes</a:t>
            </a:r>
          </a:p>
        </p:txBody>
      </p:sp>
      <p:sp>
        <p:nvSpPr>
          <p:cNvPr id="17" name="Content 17">
            <a:extLst>
              <a:ext uri="{FF2B5EF4-FFF2-40B4-BE49-F238E27FC236}">
                <a16:creationId xmlns:a16="http://schemas.microsoft.com/office/drawing/2014/main" id="{B373FC56-CE82-B30F-BF3F-DD1461806FAD}"/>
              </a:ext>
            </a:extLst>
          </p:cNvPr>
          <p:cNvSpPr txBox="1"/>
          <p:nvPr/>
        </p:nvSpPr>
        <p:spPr>
          <a:xfrm>
            <a:off x="9118600" y="2349499"/>
            <a:ext cx="2222500" cy="635000"/>
          </a:xfrm>
          <a:prstGeom prst="rect">
            <a:avLst/>
          </a:prstGeom>
          <a:noFill/>
        </p:spPr>
        <p:txBody>
          <a:bodyPr vert="horz" wrap="square" lIns="0" tIns="0" rIns="0" bIns="0" rtlCol="0">
            <a:noAutofit/>
          </a:bodyPr>
          <a:lstStyle/>
          <a:p>
            <a:r>
              <a:rPr lang="en-IN" sz="3400" b="1">
                <a:solidFill>
                  <a:srgbClr val="F41F30"/>
                </a:solidFill>
                <a:latin typeface="Arial" panose="020B0604020202020204" pitchFamily="34" charset="0"/>
              </a:rPr>
              <a:t>04</a:t>
            </a:r>
          </a:p>
        </p:txBody>
      </p:sp>
      <p:sp>
        <p:nvSpPr>
          <p:cNvPr id="19" name="Content 18">
            <a:extLst>
              <a:ext uri="{FF2B5EF4-FFF2-40B4-BE49-F238E27FC236}">
                <a16:creationId xmlns:a16="http://schemas.microsoft.com/office/drawing/2014/main" id="{25065A96-927B-E550-86BA-43EF8636FCD2}"/>
              </a:ext>
            </a:extLst>
          </p:cNvPr>
          <p:cNvSpPr txBox="1"/>
          <p:nvPr/>
        </p:nvSpPr>
        <p:spPr>
          <a:xfrm>
            <a:off x="9118600" y="3073399"/>
            <a:ext cx="2286000" cy="508000"/>
          </a:xfrm>
          <a:prstGeom prst="rect">
            <a:avLst/>
          </a:prstGeom>
          <a:noFill/>
        </p:spPr>
        <p:txBody>
          <a:bodyPr vert="horz" wrap="square" lIns="0" tIns="0" rIns="0" bIns="0" rtlCol="0">
            <a:noAutofit/>
          </a:bodyPr>
          <a:lstStyle/>
          <a:p>
            <a:r>
              <a:rPr lang="en-IN" sz="2700" b="1">
                <a:solidFill>
                  <a:srgbClr val="182231"/>
                </a:solidFill>
                <a:latin typeface="Arial" panose="020B0604020202020204" pitchFamily="34" charset="0"/>
              </a:rPr>
              <a:t>Assess</a:t>
            </a:r>
          </a:p>
        </p:txBody>
      </p:sp>
      <p:sp>
        <p:nvSpPr>
          <p:cNvPr id="20" name="Content 19">
            <a:extLst>
              <a:ext uri="{FF2B5EF4-FFF2-40B4-BE49-F238E27FC236}">
                <a16:creationId xmlns:a16="http://schemas.microsoft.com/office/drawing/2014/main" id="{2C3CD648-11B1-28B2-8261-6DB5D8FBE177}"/>
              </a:ext>
            </a:extLst>
          </p:cNvPr>
          <p:cNvSpPr txBox="1"/>
          <p:nvPr/>
        </p:nvSpPr>
        <p:spPr>
          <a:xfrm>
            <a:off x="9118600" y="3670299"/>
            <a:ext cx="2286000" cy="889000"/>
          </a:xfrm>
          <a:prstGeom prst="rect">
            <a:avLst/>
          </a:prstGeom>
          <a:noFill/>
        </p:spPr>
        <p:txBody>
          <a:bodyPr vert="horz" wrap="square" lIns="0" tIns="0" rIns="0" bIns="0" rtlCol="0">
            <a:noAutofit/>
          </a:bodyPr>
          <a:lstStyle/>
          <a:p>
            <a:r>
              <a:rPr lang="en-IN" sz="2000">
                <a:solidFill>
                  <a:srgbClr val="555E68"/>
                </a:solidFill>
                <a:latin typeface="Arial" panose="020B0604020202020204" pitchFamily="34" charset="0"/>
              </a:rPr>
              <a:t>Six evidence-based domains</a:t>
            </a:r>
          </a:p>
        </p:txBody>
      </p:sp>
      <p:sp>
        <p:nvSpPr>
          <p:cNvPr id="21" name="Content 20">
            <a:extLst>
              <a:ext uri="{FF2B5EF4-FFF2-40B4-BE49-F238E27FC236}">
                <a16:creationId xmlns:a16="http://schemas.microsoft.com/office/drawing/2014/main" id="{DD890C30-95B5-982A-B951-7C36C06F73D8}"/>
              </a:ext>
            </a:extLst>
          </p:cNvPr>
          <p:cNvSpPr txBox="1"/>
          <p:nvPr/>
        </p:nvSpPr>
        <p:spPr>
          <a:xfrm>
            <a:off x="812800" y="5054599"/>
            <a:ext cx="5080000" cy="444500"/>
          </a:xfrm>
          <a:prstGeom prst="rect">
            <a:avLst/>
          </a:prstGeom>
          <a:noFill/>
        </p:spPr>
        <p:txBody>
          <a:bodyPr vert="horz" wrap="square" lIns="0" tIns="0" rIns="0" bIns="0" rtlCol="0">
            <a:noAutofit/>
          </a:bodyPr>
          <a:lstStyle/>
          <a:p>
            <a:r>
              <a:rPr lang="en-IN" sz="2400" b="1">
                <a:solidFill>
                  <a:srgbClr val="182231"/>
                </a:solidFill>
                <a:latin typeface="Arial" panose="020B0604020202020204" pitchFamily="34" charset="0"/>
              </a:rPr>
              <a:t>Missing stays unknown</a:t>
            </a:r>
          </a:p>
        </p:txBody>
      </p:sp>
      <p:sp>
        <p:nvSpPr>
          <p:cNvPr id="22" name="Content 21">
            <a:extLst>
              <a:ext uri="{FF2B5EF4-FFF2-40B4-BE49-F238E27FC236}">
                <a16:creationId xmlns:a16="http://schemas.microsoft.com/office/drawing/2014/main" id="{9845B77D-4B49-1A04-BC90-CAFBBA563398}"/>
              </a:ext>
            </a:extLst>
          </p:cNvPr>
          <p:cNvSpPr txBox="1"/>
          <p:nvPr/>
        </p:nvSpPr>
        <p:spPr>
          <a:xfrm>
            <a:off x="6350000" y="5054599"/>
            <a:ext cx="5080000" cy="444500"/>
          </a:xfrm>
          <a:prstGeom prst="rect">
            <a:avLst/>
          </a:prstGeom>
          <a:noFill/>
        </p:spPr>
        <p:txBody>
          <a:bodyPr vert="horz" wrap="square" lIns="0" tIns="0" rIns="0" bIns="0" rtlCol="0">
            <a:noAutofit/>
          </a:bodyPr>
          <a:lstStyle/>
          <a:p>
            <a:r>
              <a:rPr lang="en-IN" sz="2400" b="1">
                <a:solidFill>
                  <a:srgbClr val="182231"/>
                </a:solidFill>
                <a:latin typeface="Arial" panose="020B0604020202020204" pitchFamily="34" charset="0"/>
              </a:rPr>
              <a:t>Conflicts trigger questions</a:t>
            </a:r>
          </a:p>
        </p:txBody>
      </p:sp>
      <p:sp>
        <p:nvSpPr>
          <p:cNvPr id="23" name="Content 22">
            <a:extLst>
              <a:ext uri="{FF2B5EF4-FFF2-40B4-BE49-F238E27FC236}">
                <a16:creationId xmlns:a16="http://schemas.microsoft.com/office/drawing/2014/main" id="{7977DFC1-1C5C-7666-E665-5258053EC654}"/>
              </a:ext>
            </a:extLst>
          </p:cNvPr>
          <p:cNvSpPr txBox="1"/>
          <p:nvPr/>
        </p:nvSpPr>
        <p:spPr>
          <a:xfrm>
            <a:off x="812800" y="5892799"/>
            <a:ext cx="10502900" cy="482600"/>
          </a:xfrm>
          <a:prstGeom prst="rect">
            <a:avLst/>
          </a:prstGeom>
          <a:noFill/>
        </p:spPr>
        <p:txBody>
          <a:bodyPr vert="horz" wrap="square" lIns="0" tIns="0" rIns="0" bIns="0" rtlCol="0">
            <a:noAutofit/>
          </a:bodyPr>
          <a:lstStyle/>
          <a:p>
            <a:r>
              <a:rPr lang="en-US" sz="2000">
                <a:solidFill>
                  <a:srgbClr val="555E68"/>
                </a:solidFill>
                <a:latin typeface="Arial" panose="020B0604020202020204" pitchFamily="34" charset="0"/>
              </a:rPr>
              <a:t>Durable checkpoints preserve progress when processing stops</a:t>
            </a:r>
            <a:endParaRPr lang="en-IN" sz="2000">
              <a:solidFill>
                <a:srgbClr val="555E68"/>
              </a:solidFill>
              <a:latin typeface="Arial" panose="020B0604020202020204" pitchFamily="34" charset="0"/>
            </a:endParaRPr>
          </a:p>
        </p:txBody>
      </p:sp>
    </p:spTree>
    <p:extLst>
      <p:ext uri="{BB962C8B-B14F-4D97-AF65-F5344CB8AC3E}">
        <p14:creationId xmlns:p14="http://schemas.microsoft.com/office/powerpoint/2010/main" val="4065289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FA9F9-3084-C1E3-A80D-FEA9D1A2D0A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1A58622-D54D-5C80-5EF9-492E6C1BB962}"/>
              </a:ext>
            </a:extLst>
          </p:cNvPr>
          <p:cNvSpPr txBox="1"/>
          <p:nvPr/>
        </p:nvSpPr>
        <p:spPr>
          <a:xfrm>
            <a:off x="3048000" y="3246792"/>
            <a:ext cx="6096000" cy="369332"/>
          </a:xfrm>
          <a:prstGeom prst="rect">
            <a:avLst/>
          </a:prstGeom>
          <a:noFill/>
        </p:spPr>
        <p:txBody>
          <a:bodyPr wrap="square">
            <a:spAutoFit/>
          </a:bodyPr>
          <a:lstStyle/>
          <a:p>
            <a:endParaRPr lang="en-IN"/>
          </a:p>
        </p:txBody>
      </p:sp>
      <p:pic>
        <p:nvPicPr>
          <p:cNvPr id="11" name="Picture 10">
            <a:extLst>
              <a:ext uri="{FF2B5EF4-FFF2-40B4-BE49-F238E27FC236}">
                <a16:creationId xmlns:a16="http://schemas.microsoft.com/office/drawing/2014/main" id="{6297FA40-9832-00BE-17AF-57394C59F0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71625"/>
            <a:ext cx="10359597" cy="5186375"/>
          </a:xfrm>
          <a:prstGeom prst="rect">
            <a:avLst/>
          </a:prstGeom>
        </p:spPr>
      </p:pic>
      <p:pic>
        <p:nvPicPr>
          <p:cNvPr id="3" name="Picture 2">
            <a:extLst>
              <a:ext uri="{FF2B5EF4-FFF2-40B4-BE49-F238E27FC236}">
                <a16:creationId xmlns:a16="http://schemas.microsoft.com/office/drawing/2014/main" id="{1274D980-B856-3D34-B285-4630EBEEE4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913" y="-1"/>
            <a:ext cx="3342967" cy="1671625"/>
          </a:xfrm>
          <a:prstGeom prst="rect">
            <a:avLst/>
          </a:prstGeom>
        </p:spPr>
      </p:pic>
      <p:pic>
        <p:nvPicPr>
          <p:cNvPr id="14" name="Picture 13">
            <a:extLst>
              <a:ext uri="{FF2B5EF4-FFF2-40B4-BE49-F238E27FC236}">
                <a16:creationId xmlns:a16="http://schemas.microsoft.com/office/drawing/2014/main" id="{29CE0DDE-2362-3D63-269E-C7C4029C287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09095" y="231127"/>
            <a:ext cx="1209368" cy="1209368"/>
          </a:xfrm>
          <a:prstGeom prst="rect">
            <a:avLst/>
          </a:prstGeom>
        </p:spPr>
      </p:pic>
      <p:pic>
        <p:nvPicPr>
          <p:cNvPr id="16" name="Picture 15">
            <a:extLst>
              <a:ext uri="{FF2B5EF4-FFF2-40B4-BE49-F238E27FC236}">
                <a16:creationId xmlns:a16="http://schemas.microsoft.com/office/drawing/2014/main" id="{FDD07442-1D40-CED2-9055-EAC0EC0E6909}"/>
              </a:ext>
            </a:extLst>
          </p:cNvPr>
          <p:cNvPicPr>
            <a:picLocks noChangeAspect="1"/>
          </p:cNvPicPr>
          <p:nvPr/>
        </p:nvPicPr>
        <p:blipFill>
          <a:blip r:embed="rId6">
            <a:extLst>
              <a:ext uri="{28A0092B-C50C-407E-A947-70E740481C1C}">
                <a14:useLocalDpi xmlns:a14="http://schemas.microsoft.com/office/drawing/2010/main" val="0"/>
              </a:ext>
            </a:extLst>
          </a:blip>
          <a:srcRect t="15233" b="12420"/>
          <a:stretch>
            <a:fillRect/>
          </a:stretch>
        </p:blipFill>
        <p:spPr>
          <a:xfrm>
            <a:off x="8869852" y="176938"/>
            <a:ext cx="1710813" cy="1209369"/>
          </a:xfrm>
          <a:prstGeom prst="rect">
            <a:avLst/>
          </a:prstGeom>
        </p:spPr>
      </p:pic>
      <p:pic>
        <p:nvPicPr>
          <p:cNvPr id="18" name="Picture 17">
            <a:extLst>
              <a:ext uri="{FF2B5EF4-FFF2-40B4-BE49-F238E27FC236}">
                <a16:creationId xmlns:a16="http://schemas.microsoft.com/office/drawing/2014/main" id="{E9B181BB-0974-D35E-81B1-D59FD847253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00629" y="-75234"/>
            <a:ext cx="3640793" cy="1822089"/>
          </a:xfrm>
          <a:prstGeom prst="rect">
            <a:avLst/>
          </a:prstGeom>
        </p:spPr>
      </p:pic>
      <p:sp>
        <p:nvSpPr>
          <p:cNvPr id="4" name="TextBox 3">
            <a:extLst>
              <a:ext uri="{FF2B5EF4-FFF2-40B4-BE49-F238E27FC236}">
                <a16:creationId xmlns:a16="http://schemas.microsoft.com/office/drawing/2014/main" id="{177D2A97-6899-1DCC-B272-9B1EDC0BB88F}"/>
              </a:ext>
            </a:extLst>
          </p:cNvPr>
          <p:cNvSpPr txBox="1"/>
          <p:nvPr/>
        </p:nvSpPr>
        <p:spPr>
          <a:xfrm>
            <a:off x="635000" y="1320800"/>
            <a:ext cx="10922000" cy="492443"/>
          </a:xfrm>
          <a:prstGeom prst="rect">
            <a:avLst/>
          </a:prstGeom>
          <a:noFill/>
        </p:spPr>
        <p:txBody>
          <a:bodyPr wrap="square" lIns="0" rIns="0">
            <a:spAutoFit/>
          </a:bodyPr>
          <a:lstStyle/>
          <a:p>
            <a:pPr algn="ctr"/>
            <a:r>
              <a:rPr lang="en-IN" sz="2600" b="1">
                <a:solidFill>
                  <a:srgbClr val="000000"/>
                </a:solidFill>
                <a:latin typeface="Times New Roman" panose="02020603050405020304" pitchFamily="18" charset="0"/>
                <a:cs typeface="Times New Roman" panose="02020603050405020304" pitchFamily="18" charset="0"/>
              </a:rPr>
              <a:t>FEASIBILITY, VIABILITY &amp; ASSUMPTIONS</a:t>
            </a:r>
            <a:endParaRPr lang="en-US" sz="2600" b="1" dirty="0">
              <a:solidFill>
                <a:srgbClr val="000000"/>
              </a:solidFill>
              <a:latin typeface="Times New Roman" panose="02020603050405020304" pitchFamily="18" charset="0"/>
              <a:cs typeface="Times New Roman" panose="02020603050405020304" pitchFamily="18" charset="0"/>
            </a:endParaRPr>
          </a:p>
        </p:txBody>
      </p:sp>
      <p:sp>
        <p:nvSpPr>
          <p:cNvPr id="2" name="Content 8">
            <a:extLst>
              <a:ext uri="{FF2B5EF4-FFF2-40B4-BE49-F238E27FC236}">
                <a16:creationId xmlns:a16="http://schemas.microsoft.com/office/drawing/2014/main" id="{FE4036D2-8DF6-73EC-317E-34A6924A1C4A}"/>
              </a:ext>
            </a:extLst>
          </p:cNvPr>
          <p:cNvSpPr txBox="1"/>
          <p:nvPr/>
        </p:nvSpPr>
        <p:spPr>
          <a:xfrm>
            <a:off x="825500" y="2247899"/>
            <a:ext cx="3302000" cy="1016000"/>
          </a:xfrm>
          <a:prstGeom prst="rect">
            <a:avLst/>
          </a:prstGeom>
          <a:noFill/>
        </p:spPr>
        <p:txBody>
          <a:bodyPr vert="horz" wrap="square" lIns="0" tIns="0" rIns="0" bIns="0" rtlCol="0">
            <a:noAutofit/>
          </a:bodyPr>
          <a:lstStyle/>
          <a:p>
            <a:r>
              <a:rPr lang="en-IN" sz="6400" b="1">
                <a:solidFill>
                  <a:srgbClr val="F41F30"/>
                </a:solidFill>
                <a:latin typeface="Arial" panose="020B0604020202020204" pitchFamily="34" charset="0"/>
              </a:rPr>
              <a:t>192</a:t>
            </a:r>
          </a:p>
        </p:txBody>
      </p:sp>
      <p:sp>
        <p:nvSpPr>
          <p:cNvPr id="6" name="Content 9">
            <a:extLst>
              <a:ext uri="{FF2B5EF4-FFF2-40B4-BE49-F238E27FC236}">
                <a16:creationId xmlns:a16="http://schemas.microsoft.com/office/drawing/2014/main" id="{F7A04757-098A-8A9D-14B5-8DFF32EC1155}"/>
              </a:ext>
            </a:extLst>
          </p:cNvPr>
          <p:cNvSpPr txBox="1"/>
          <p:nvPr/>
        </p:nvSpPr>
        <p:spPr>
          <a:xfrm>
            <a:off x="850900" y="3340099"/>
            <a:ext cx="4445000" cy="444500"/>
          </a:xfrm>
          <a:prstGeom prst="rect">
            <a:avLst/>
          </a:prstGeom>
          <a:noFill/>
        </p:spPr>
        <p:txBody>
          <a:bodyPr vert="horz" wrap="square" lIns="0" tIns="0" rIns="0" bIns="0" rtlCol="0">
            <a:noAutofit/>
          </a:bodyPr>
          <a:lstStyle/>
          <a:p>
            <a:r>
              <a:rPr lang="en-IN" sz="2500" b="1">
                <a:solidFill>
                  <a:srgbClr val="182231"/>
                </a:solidFill>
                <a:latin typeface="Arial" panose="020B0604020202020204" pitchFamily="34" charset="0"/>
              </a:rPr>
              <a:t>API tests passed</a:t>
            </a:r>
          </a:p>
        </p:txBody>
      </p:sp>
      <p:sp>
        <p:nvSpPr>
          <p:cNvPr id="7" name="Content 10">
            <a:extLst>
              <a:ext uri="{FF2B5EF4-FFF2-40B4-BE49-F238E27FC236}">
                <a16:creationId xmlns:a16="http://schemas.microsoft.com/office/drawing/2014/main" id="{A497C563-6FD0-4267-42C4-64FFB09B48BA}"/>
              </a:ext>
            </a:extLst>
          </p:cNvPr>
          <p:cNvSpPr txBox="1"/>
          <p:nvPr/>
        </p:nvSpPr>
        <p:spPr>
          <a:xfrm>
            <a:off x="850900" y="3949699"/>
            <a:ext cx="4508500" cy="508000"/>
          </a:xfrm>
          <a:prstGeom prst="rect">
            <a:avLst/>
          </a:prstGeom>
          <a:noFill/>
        </p:spPr>
        <p:txBody>
          <a:bodyPr vert="horz" wrap="square" lIns="0" tIns="0" rIns="0" bIns="0" rtlCol="0">
            <a:noAutofit/>
          </a:bodyPr>
          <a:lstStyle/>
          <a:p>
            <a:r>
              <a:rPr lang="en-IN" sz="2300" b="1">
                <a:solidFill>
                  <a:srgbClr val="182231"/>
                </a:solidFill>
                <a:latin typeface="Arial" panose="020B0604020202020204" pitchFamily="34" charset="0"/>
              </a:rPr>
              <a:t>15 local browser journeys</a:t>
            </a:r>
          </a:p>
        </p:txBody>
      </p:sp>
      <p:sp>
        <p:nvSpPr>
          <p:cNvPr id="8" name="Content 11">
            <a:extLst>
              <a:ext uri="{FF2B5EF4-FFF2-40B4-BE49-F238E27FC236}">
                <a16:creationId xmlns:a16="http://schemas.microsoft.com/office/drawing/2014/main" id="{740BD287-18CB-D7D6-E6B5-899B0D7E69F2}"/>
              </a:ext>
            </a:extLst>
          </p:cNvPr>
          <p:cNvSpPr txBox="1"/>
          <p:nvPr/>
        </p:nvSpPr>
        <p:spPr>
          <a:xfrm>
            <a:off x="850900" y="4571999"/>
            <a:ext cx="4635500" cy="711200"/>
          </a:xfrm>
          <a:prstGeom prst="rect">
            <a:avLst/>
          </a:prstGeom>
          <a:noFill/>
        </p:spPr>
        <p:txBody>
          <a:bodyPr vert="horz" wrap="square" lIns="0" tIns="0" rIns="0" bIns="0" rtlCol="0">
            <a:noAutofit/>
          </a:bodyPr>
          <a:lstStyle/>
          <a:p>
            <a:r>
              <a:rPr lang="en-US" sz="1700">
                <a:solidFill>
                  <a:srgbClr val="555E68"/>
                </a:solidFill>
                <a:latin typeface="Arial" panose="020B0604020202020204" pitchFamily="34" charset="0"/>
              </a:rPr>
              <a:t>Browser model/Auth data use fixtures</a:t>
            </a:r>
            <a:endParaRPr lang="en-IN" sz="1700">
              <a:solidFill>
                <a:srgbClr val="555E68"/>
              </a:solidFill>
              <a:latin typeface="Arial" panose="020B0604020202020204" pitchFamily="34" charset="0"/>
            </a:endParaRPr>
          </a:p>
        </p:txBody>
      </p:sp>
      <p:sp>
        <p:nvSpPr>
          <p:cNvPr id="9" name="Content 12">
            <a:extLst>
              <a:ext uri="{FF2B5EF4-FFF2-40B4-BE49-F238E27FC236}">
                <a16:creationId xmlns:a16="http://schemas.microsoft.com/office/drawing/2014/main" id="{9413EC22-90F7-B382-9736-31B6210FD41F}"/>
              </a:ext>
            </a:extLst>
          </p:cNvPr>
          <p:cNvSpPr txBox="1"/>
          <p:nvPr/>
        </p:nvSpPr>
        <p:spPr>
          <a:xfrm>
            <a:off x="6350000" y="2374899"/>
            <a:ext cx="4953000" cy="508000"/>
          </a:xfrm>
          <a:prstGeom prst="rect">
            <a:avLst/>
          </a:prstGeom>
          <a:noFill/>
        </p:spPr>
        <p:txBody>
          <a:bodyPr vert="horz" wrap="square" lIns="0" tIns="0" rIns="0" bIns="0" rtlCol="0">
            <a:noAutofit/>
          </a:bodyPr>
          <a:lstStyle/>
          <a:p>
            <a:r>
              <a:rPr lang="en-IN" sz="2700" b="1">
                <a:solidFill>
                  <a:srgbClr val="182231"/>
                </a:solidFill>
                <a:latin typeface="Arial" panose="020B0604020202020204" pitchFamily="34" charset="0"/>
              </a:rPr>
              <a:t>Real model pipeline</a:t>
            </a:r>
          </a:p>
        </p:txBody>
      </p:sp>
      <p:sp>
        <p:nvSpPr>
          <p:cNvPr id="10" name="Content 13">
            <a:extLst>
              <a:ext uri="{FF2B5EF4-FFF2-40B4-BE49-F238E27FC236}">
                <a16:creationId xmlns:a16="http://schemas.microsoft.com/office/drawing/2014/main" id="{94A032FC-68DE-C642-9353-B19EEB47F7E9}"/>
              </a:ext>
            </a:extLst>
          </p:cNvPr>
          <p:cNvSpPr txBox="1"/>
          <p:nvPr/>
        </p:nvSpPr>
        <p:spPr>
          <a:xfrm>
            <a:off x="6350000" y="3073399"/>
            <a:ext cx="4953000" cy="444500"/>
          </a:xfrm>
          <a:prstGeom prst="rect">
            <a:avLst/>
          </a:prstGeom>
          <a:noFill/>
        </p:spPr>
        <p:txBody>
          <a:bodyPr vert="horz" wrap="square" lIns="0" tIns="0" rIns="0" bIns="0" rtlCol="0">
            <a:noAutofit/>
          </a:bodyPr>
          <a:lstStyle/>
          <a:p>
            <a:r>
              <a:rPr lang="en-US" sz="2300">
                <a:solidFill>
                  <a:srgbClr val="555E68"/>
                </a:solidFill>
                <a:latin typeface="Arial" panose="020B0604020202020204" pitchFamily="34" charset="0"/>
              </a:rPr>
              <a:t>3 synthetic text cases passed</a:t>
            </a:r>
            <a:endParaRPr lang="en-IN" sz="2300">
              <a:solidFill>
                <a:srgbClr val="555E68"/>
              </a:solidFill>
              <a:latin typeface="Arial" panose="020B0604020202020204" pitchFamily="34" charset="0"/>
            </a:endParaRPr>
          </a:p>
        </p:txBody>
      </p:sp>
      <p:sp>
        <p:nvSpPr>
          <p:cNvPr id="12" name="Content 14">
            <a:extLst>
              <a:ext uri="{FF2B5EF4-FFF2-40B4-BE49-F238E27FC236}">
                <a16:creationId xmlns:a16="http://schemas.microsoft.com/office/drawing/2014/main" id="{6FA32926-C29D-7843-5785-B3E3F4A2A30F}"/>
              </a:ext>
            </a:extLst>
          </p:cNvPr>
          <p:cNvSpPr txBox="1"/>
          <p:nvPr/>
        </p:nvSpPr>
        <p:spPr>
          <a:xfrm>
            <a:off x="6350000" y="3632199"/>
            <a:ext cx="4953000" cy="444500"/>
          </a:xfrm>
          <a:prstGeom prst="rect">
            <a:avLst/>
          </a:prstGeom>
          <a:noFill/>
        </p:spPr>
        <p:txBody>
          <a:bodyPr vert="horz" wrap="square" lIns="0" tIns="0" rIns="0" bIns="0" rtlCol="0">
            <a:noAutofit/>
          </a:bodyPr>
          <a:lstStyle/>
          <a:p>
            <a:r>
              <a:rPr lang="en-US" sz="2300">
                <a:solidFill>
                  <a:srgbClr val="555E68"/>
                </a:solidFill>
                <a:latin typeface="Arial" panose="020B0604020202020204" pitchFamily="34" charset="0"/>
              </a:rPr>
              <a:t>87 to 140 seconds per case</a:t>
            </a:r>
            <a:endParaRPr lang="en-IN" sz="2300">
              <a:solidFill>
                <a:srgbClr val="555E68"/>
              </a:solidFill>
              <a:latin typeface="Arial" panose="020B0604020202020204" pitchFamily="34" charset="0"/>
            </a:endParaRPr>
          </a:p>
        </p:txBody>
      </p:sp>
      <p:sp>
        <p:nvSpPr>
          <p:cNvPr id="13" name="Content 15">
            <a:extLst>
              <a:ext uri="{FF2B5EF4-FFF2-40B4-BE49-F238E27FC236}">
                <a16:creationId xmlns:a16="http://schemas.microsoft.com/office/drawing/2014/main" id="{0A9AD080-EDDF-B390-0913-31FE6434275F}"/>
              </a:ext>
            </a:extLst>
          </p:cNvPr>
          <p:cNvSpPr txBox="1"/>
          <p:nvPr/>
        </p:nvSpPr>
        <p:spPr>
          <a:xfrm>
            <a:off x="6350000" y="4457699"/>
            <a:ext cx="4953000" cy="736600"/>
          </a:xfrm>
          <a:prstGeom prst="rect">
            <a:avLst/>
          </a:prstGeom>
          <a:noFill/>
        </p:spPr>
        <p:txBody>
          <a:bodyPr vert="horz" wrap="square" lIns="0" tIns="0" rIns="0" bIns="0" rtlCol="0">
            <a:noAutofit/>
          </a:bodyPr>
          <a:lstStyle/>
          <a:p>
            <a:r>
              <a:rPr lang="en-US" sz="2200" b="1">
                <a:solidFill>
                  <a:srgbClr val="182231"/>
                </a:solidFill>
                <a:latin typeface="Arial" panose="020B0604020202020204" pitchFamily="34" charset="0"/>
              </a:rPr>
              <a:t>Owned laptop requires power and internet</a:t>
            </a:r>
            <a:endParaRPr lang="en-IN" sz="2200" b="1">
              <a:solidFill>
                <a:srgbClr val="182231"/>
              </a:solidFill>
              <a:latin typeface="Arial" panose="020B0604020202020204" pitchFamily="34" charset="0"/>
            </a:endParaRPr>
          </a:p>
        </p:txBody>
      </p:sp>
      <p:sp>
        <p:nvSpPr>
          <p:cNvPr id="15" name="Content 16">
            <a:extLst>
              <a:ext uri="{FF2B5EF4-FFF2-40B4-BE49-F238E27FC236}">
                <a16:creationId xmlns:a16="http://schemas.microsoft.com/office/drawing/2014/main" id="{F6402A84-9C6B-FFE4-724B-0AE949188744}"/>
              </a:ext>
            </a:extLst>
          </p:cNvPr>
          <p:cNvSpPr txBox="1"/>
          <p:nvPr/>
        </p:nvSpPr>
        <p:spPr>
          <a:xfrm>
            <a:off x="825500" y="5918199"/>
            <a:ext cx="10668000" cy="508000"/>
          </a:xfrm>
          <a:prstGeom prst="rect">
            <a:avLst/>
          </a:prstGeom>
          <a:noFill/>
        </p:spPr>
        <p:txBody>
          <a:bodyPr vert="horz" wrap="square" lIns="0" tIns="0" rIns="0" bIns="0" rtlCol="0">
            <a:noAutofit/>
          </a:bodyPr>
          <a:lstStyle/>
          <a:p>
            <a:r>
              <a:rPr lang="en-US">
                <a:solidFill>
                  <a:srgbClr val="555E68"/>
                </a:solidFill>
                <a:latin typeface="Arial" panose="020B0604020202020204" pitchFamily="34" charset="0"/>
              </a:rPr>
              <a:t>Open validation: language accuracy, fairness and assessor impact</a:t>
            </a:r>
            <a:endParaRPr lang="en-IN">
              <a:solidFill>
                <a:srgbClr val="555E68"/>
              </a:solidFill>
              <a:latin typeface="Arial" panose="020B0604020202020204" pitchFamily="34" charset="0"/>
            </a:endParaRPr>
          </a:p>
        </p:txBody>
      </p:sp>
    </p:spTree>
    <p:extLst>
      <p:ext uri="{BB962C8B-B14F-4D97-AF65-F5344CB8AC3E}">
        <p14:creationId xmlns:p14="http://schemas.microsoft.com/office/powerpoint/2010/main" val="2843760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BBD7F-79A6-3D08-49E2-43EA3008172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8F9144-5A0D-E121-D2EA-F302D8737930}"/>
              </a:ext>
            </a:extLst>
          </p:cNvPr>
          <p:cNvSpPr txBox="1"/>
          <p:nvPr/>
        </p:nvSpPr>
        <p:spPr>
          <a:xfrm>
            <a:off x="3048000" y="3246792"/>
            <a:ext cx="6096000" cy="369332"/>
          </a:xfrm>
          <a:prstGeom prst="rect">
            <a:avLst/>
          </a:prstGeom>
          <a:noFill/>
        </p:spPr>
        <p:txBody>
          <a:bodyPr wrap="square">
            <a:spAutoFit/>
          </a:bodyPr>
          <a:lstStyle/>
          <a:p>
            <a:endParaRPr lang="en-IN"/>
          </a:p>
        </p:txBody>
      </p:sp>
      <p:pic>
        <p:nvPicPr>
          <p:cNvPr id="11" name="Picture 10">
            <a:extLst>
              <a:ext uri="{FF2B5EF4-FFF2-40B4-BE49-F238E27FC236}">
                <a16:creationId xmlns:a16="http://schemas.microsoft.com/office/drawing/2014/main" id="{E3AB0B0D-CCFD-35B0-AF7E-AC38D896E6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71625"/>
            <a:ext cx="10359597" cy="5186375"/>
          </a:xfrm>
          <a:prstGeom prst="rect">
            <a:avLst/>
          </a:prstGeom>
        </p:spPr>
      </p:pic>
      <p:pic>
        <p:nvPicPr>
          <p:cNvPr id="3" name="Picture 2">
            <a:extLst>
              <a:ext uri="{FF2B5EF4-FFF2-40B4-BE49-F238E27FC236}">
                <a16:creationId xmlns:a16="http://schemas.microsoft.com/office/drawing/2014/main" id="{9A07B3C1-F2AE-1AD5-04D4-C37294333B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913" y="-1"/>
            <a:ext cx="3342967" cy="1671625"/>
          </a:xfrm>
          <a:prstGeom prst="rect">
            <a:avLst/>
          </a:prstGeom>
        </p:spPr>
      </p:pic>
      <p:pic>
        <p:nvPicPr>
          <p:cNvPr id="14" name="Picture 13">
            <a:extLst>
              <a:ext uri="{FF2B5EF4-FFF2-40B4-BE49-F238E27FC236}">
                <a16:creationId xmlns:a16="http://schemas.microsoft.com/office/drawing/2014/main" id="{C7E61DB5-4C30-1CC7-66EC-8D3B937DA0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09095" y="231127"/>
            <a:ext cx="1209368" cy="1209368"/>
          </a:xfrm>
          <a:prstGeom prst="rect">
            <a:avLst/>
          </a:prstGeom>
        </p:spPr>
      </p:pic>
      <p:pic>
        <p:nvPicPr>
          <p:cNvPr id="16" name="Picture 15">
            <a:extLst>
              <a:ext uri="{FF2B5EF4-FFF2-40B4-BE49-F238E27FC236}">
                <a16:creationId xmlns:a16="http://schemas.microsoft.com/office/drawing/2014/main" id="{43BF7EE0-43C7-A6E4-149A-F1F25B69AF57}"/>
              </a:ext>
            </a:extLst>
          </p:cNvPr>
          <p:cNvPicPr>
            <a:picLocks noChangeAspect="1"/>
          </p:cNvPicPr>
          <p:nvPr/>
        </p:nvPicPr>
        <p:blipFill>
          <a:blip r:embed="rId6">
            <a:extLst>
              <a:ext uri="{28A0092B-C50C-407E-A947-70E740481C1C}">
                <a14:useLocalDpi xmlns:a14="http://schemas.microsoft.com/office/drawing/2010/main" val="0"/>
              </a:ext>
            </a:extLst>
          </a:blip>
          <a:srcRect t="15233" b="12420"/>
          <a:stretch>
            <a:fillRect/>
          </a:stretch>
        </p:blipFill>
        <p:spPr>
          <a:xfrm>
            <a:off x="8869852" y="176938"/>
            <a:ext cx="1710813" cy="1209369"/>
          </a:xfrm>
          <a:prstGeom prst="rect">
            <a:avLst/>
          </a:prstGeom>
        </p:spPr>
      </p:pic>
      <p:pic>
        <p:nvPicPr>
          <p:cNvPr id="18" name="Picture 17">
            <a:extLst>
              <a:ext uri="{FF2B5EF4-FFF2-40B4-BE49-F238E27FC236}">
                <a16:creationId xmlns:a16="http://schemas.microsoft.com/office/drawing/2014/main" id="{3678388D-2C30-2970-2D1E-BEDF14D5E0F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00629" y="-75234"/>
            <a:ext cx="3640793" cy="1822089"/>
          </a:xfrm>
          <a:prstGeom prst="rect">
            <a:avLst/>
          </a:prstGeom>
        </p:spPr>
      </p:pic>
      <p:sp>
        <p:nvSpPr>
          <p:cNvPr id="4" name="TextBox 3">
            <a:extLst>
              <a:ext uri="{FF2B5EF4-FFF2-40B4-BE49-F238E27FC236}">
                <a16:creationId xmlns:a16="http://schemas.microsoft.com/office/drawing/2014/main" id="{6503299D-8ABD-D7AB-2960-53C52EB05013}"/>
              </a:ext>
            </a:extLst>
          </p:cNvPr>
          <p:cNvSpPr txBox="1"/>
          <p:nvPr/>
        </p:nvSpPr>
        <p:spPr>
          <a:xfrm>
            <a:off x="635000" y="1320800"/>
            <a:ext cx="10922000" cy="492443"/>
          </a:xfrm>
          <a:prstGeom prst="rect">
            <a:avLst/>
          </a:prstGeom>
          <a:noFill/>
        </p:spPr>
        <p:txBody>
          <a:bodyPr wrap="square" lIns="0" rIns="0">
            <a:spAutoFit/>
          </a:bodyPr>
          <a:lstStyle/>
          <a:p>
            <a:pPr algn="ctr"/>
            <a:r>
              <a:rPr lang="en-IN" sz="2600" b="1">
                <a:solidFill>
                  <a:srgbClr val="000000"/>
                </a:solidFill>
                <a:latin typeface="Times New Roman" panose="02020603050405020304" pitchFamily="18" charset="0"/>
                <a:cs typeface="Times New Roman" panose="02020603050405020304" pitchFamily="18" charset="0"/>
              </a:rPr>
              <a:t>IMPACT &amp; BENEFITS</a:t>
            </a:r>
            <a:endParaRPr lang="en-IN" sz="2600" b="1" dirty="0">
              <a:solidFill>
                <a:srgbClr val="000000"/>
              </a:solidFill>
              <a:latin typeface="Times New Roman" panose="02020603050405020304" pitchFamily="18" charset="0"/>
              <a:cs typeface="Times New Roman" panose="02020603050405020304" pitchFamily="18" charset="0"/>
            </a:endParaRPr>
          </a:p>
        </p:txBody>
      </p:sp>
      <p:sp>
        <p:nvSpPr>
          <p:cNvPr id="2" name="Content 8">
            <a:extLst>
              <a:ext uri="{FF2B5EF4-FFF2-40B4-BE49-F238E27FC236}">
                <a16:creationId xmlns:a16="http://schemas.microsoft.com/office/drawing/2014/main" id="{06D24103-99E8-77D5-5AF9-F4F0AE8CCB7D}"/>
              </a:ext>
            </a:extLst>
          </p:cNvPr>
          <p:cNvSpPr txBox="1"/>
          <p:nvPr/>
        </p:nvSpPr>
        <p:spPr>
          <a:xfrm>
            <a:off x="812800" y="2285999"/>
            <a:ext cx="5207000" cy="482600"/>
          </a:xfrm>
          <a:prstGeom prst="rect">
            <a:avLst/>
          </a:prstGeom>
          <a:noFill/>
        </p:spPr>
        <p:txBody>
          <a:bodyPr vert="horz" wrap="square" lIns="0" tIns="0" rIns="0" bIns="0" rtlCol="0">
            <a:noAutofit/>
          </a:bodyPr>
          <a:lstStyle/>
          <a:p>
            <a:r>
              <a:rPr lang="en-IN" sz="2800" b="1">
                <a:solidFill>
                  <a:srgbClr val="182231"/>
                </a:solidFill>
                <a:latin typeface="Arial" panose="020B0604020202020204" pitchFamily="34" charset="0"/>
              </a:rPr>
              <a:t>Applicants</a:t>
            </a:r>
          </a:p>
        </p:txBody>
      </p:sp>
      <p:sp>
        <p:nvSpPr>
          <p:cNvPr id="6" name="Content 9">
            <a:extLst>
              <a:ext uri="{FF2B5EF4-FFF2-40B4-BE49-F238E27FC236}">
                <a16:creationId xmlns:a16="http://schemas.microsoft.com/office/drawing/2014/main" id="{69B5E721-0B75-3019-0FB7-B50B9A8FCC13}"/>
              </a:ext>
            </a:extLst>
          </p:cNvPr>
          <p:cNvSpPr txBox="1"/>
          <p:nvPr/>
        </p:nvSpPr>
        <p:spPr>
          <a:xfrm>
            <a:off x="812800" y="2857499"/>
            <a:ext cx="5080000" cy="812800"/>
          </a:xfrm>
          <a:prstGeom prst="rect">
            <a:avLst/>
          </a:prstGeom>
          <a:noFill/>
        </p:spPr>
        <p:txBody>
          <a:bodyPr vert="horz" wrap="square" lIns="0" tIns="0" rIns="0" bIns="0" rtlCol="0">
            <a:noAutofit/>
          </a:bodyPr>
          <a:lstStyle/>
          <a:p>
            <a:r>
              <a:rPr lang="en-US" sz="2300">
                <a:solidFill>
                  <a:srgbClr val="555E68"/>
                </a:solidFill>
                <a:latin typeface="Arial" panose="020B0604020202020204" pitchFamily="34" charset="0"/>
              </a:rPr>
              <a:t>Understand gaps and answer useful questions</a:t>
            </a:r>
            <a:endParaRPr lang="en-IN" sz="2300">
              <a:solidFill>
                <a:srgbClr val="555E68"/>
              </a:solidFill>
              <a:latin typeface="Arial" panose="020B0604020202020204" pitchFamily="34" charset="0"/>
            </a:endParaRPr>
          </a:p>
        </p:txBody>
      </p:sp>
      <p:sp>
        <p:nvSpPr>
          <p:cNvPr id="7" name="Content 10">
            <a:extLst>
              <a:ext uri="{FF2B5EF4-FFF2-40B4-BE49-F238E27FC236}">
                <a16:creationId xmlns:a16="http://schemas.microsoft.com/office/drawing/2014/main" id="{0AD1DA6F-00C1-0D30-F179-84886382F077}"/>
              </a:ext>
            </a:extLst>
          </p:cNvPr>
          <p:cNvSpPr txBox="1"/>
          <p:nvPr/>
        </p:nvSpPr>
        <p:spPr>
          <a:xfrm>
            <a:off x="812800" y="3936999"/>
            <a:ext cx="5207000" cy="482600"/>
          </a:xfrm>
          <a:prstGeom prst="rect">
            <a:avLst/>
          </a:prstGeom>
          <a:noFill/>
        </p:spPr>
        <p:txBody>
          <a:bodyPr vert="horz" wrap="square" lIns="0" tIns="0" rIns="0" bIns="0" rtlCol="0">
            <a:noAutofit/>
          </a:bodyPr>
          <a:lstStyle/>
          <a:p>
            <a:r>
              <a:rPr lang="en-IN" sz="2800" b="1">
                <a:solidFill>
                  <a:srgbClr val="182231"/>
                </a:solidFill>
                <a:latin typeface="Arial" panose="020B0604020202020204" pitchFamily="34" charset="0"/>
              </a:rPr>
              <a:t>Assessors</a:t>
            </a:r>
          </a:p>
        </p:txBody>
      </p:sp>
      <p:sp>
        <p:nvSpPr>
          <p:cNvPr id="8" name="Content 11">
            <a:extLst>
              <a:ext uri="{FF2B5EF4-FFF2-40B4-BE49-F238E27FC236}">
                <a16:creationId xmlns:a16="http://schemas.microsoft.com/office/drawing/2014/main" id="{12CDA427-2F4D-2D04-C240-399688E5551A}"/>
              </a:ext>
            </a:extLst>
          </p:cNvPr>
          <p:cNvSpPr txBox="1"/>
          <p:nvPr/>
        </p:nvSpPr>
        <p:spPr>
          <a:xfrm>
            <a:off x="812800" y="4508499"/>
            <a:ext cx="5080000" cy="812800"/>
          </a:xfrm>
          <a:prstGeom prst="rect">
            <a:avLst/>
          </a:prstGeom>
          <a:noFill/>
        </p:spPr>
        <p:txBody>
          <a:bodyPr vert="horz" wrap="square" lIns="0" tIns="0" rIns="0" bIns="0" rtlCol="0">
            <a:noAutofit/>
          </a:bodyPr>
          <a:lstStyle/>
          <a:p>
            <a:r>
              <a:rPr lang="en-US" sz="2300">
                <a:solidFill>
                  <a:srgbClr val="555E68"/>
                </a:solidFill>
                <a:latin typeface="Arial" panose="020B0604020202020204" pitchFamily="34" charset="0"/>
              </a:rPr>
              <a:t>Compare ideas and trace every review</a:t>
            </a:r>
            <a:endParaRPr lang="en-IN" sz="2300">
              <a:solidFill>
                <a:srgbClr val="555E68"/>
              </a:solidFill>
              <a:latin typeface="Arial" panose="020B0604020202020204" pitchFamily="34" charset="0"/>
            </a:endParaRPr>
          </a:p>
        </p:txBody>
      </p:sp>
      <p:pic>
        <p:nvPicPr>
          <p:cNvPr id="10" name="Picture 9">
            <a:extLst>
              <a:ext uri="{FF2B5EF4-FFF2-40B4-BE49-F238E27FC236}">
                <a16:creationId xmlns:a16="http://schemas.microsoft.com/office/drawing/2014/main" id="{87BF2B3E-5633-8462-3B30-7DAC97B53AE5}"/>
              </a:ext>
            </a:extLst>
          </p:cNvPr>
          <p:cNvPicPr>
            <a:picLocks/>
          </p:cNvPicPr>
          <p:nvPr/>
        </p:nvPicPr>
        <p:blipFill>
          <a:blip r:embed="rId8"/>
          <a:srcRect l="6667" t="59903" r="6667" b="19703"/>
          <a:stretch>
            <a:fillRect/>
          </a:stretch>
        </p:blipFill>
        <p:spPr>
          <a:xfrm>
            <a:off x="6350000" y="2247900"/>
            <a:ext cx="5016500" cy="3175000"/>
          </a:xfrm>
          <a:prstGeom prst="rect">
            <a:avLst/>
          </a:prstGeom>
        </p:spPr>
      </p:pic>
      <p:sp>
        <p:nvSpPr>
          <p:cNvPr id="12" name="Content 13">
            <a:extLst>
              <a:ext uri="{FF2B5EF4-FFF2-40B4-BE49-F238E27FC236}">
                <a16:creationId xmlns:a16="http://schemas.microsoft.com/office/drawing/2014/main" id="{6C4CF912-4174-F72C-3CB8-5CCE93951028}"/>
              </a:ext>
            </a:extLst>
          </p:cNvPr>
          <p:cNvSpPr txBox="1"/>
          <p:nvPr/>
        </p:nvSpPr>
        <p:spPr>
          <a:xfrm>
            <a:off x="6350000" y="5524499"/>
            <a:ext cx="5016500" cy="304800"/>
          </a:xfrm>
          <a:prstGeom prst="rect">
            <a:avLst/>
          </a:prstGeom>
          <a:noFill/>
        </p:spPr>
        <p:txBody>
          <a:bodyPr vert="horz" wrap="square" lIns="0" tIns="0" rIns="0" bIns="0" rtlCol="0">
            <a:noAutofit/>
          </a:bodyPr>
          <a:lstStyle/>
          <a:p>
            <a:r>
              <a:rPr lang="en-US" sz="1200">
                <a:solidFill>
                  <a:srgbClr val="555E68"/>
                </a:solidFill>
                <a:latin typeface="Arial" panose="020B0604020202020204" pitchFamily="34" charset="0"/>
              </a:rPr>
              <a:t>What-if planner (synthetic test data)</a:t>
            </a:r>
            <a:endParaRPr lang="en-IN" sz="1200">
              <a:solidFill>
                <a:srgbClr val="555E68"/>
              </a:solidFill>
              <a:latin typeface="Arial" panose="020B0604020202020204" pitchFamily="34" charset="0"/>
            </a:endParaRPr>
          </a:p>
        </p:txBody>
      </p:sp>
      <p:sp>
        <p:nvSpPr>
          <p:cNvPr id="13" name="Content 14">
            <a:extLst>
              <a:ext uri="{FF2B5EF4-FFF2-40B4-BE49-F238E27FC236}">
                <a16:creationId xmlns:a16="http://schemas.microsoft.com/office/drawing/2014/main" id="{30D751E6-A5C7-AE70-7654-9F6AE669D03A}"/>
              </a:ext>
            </a:extLst>
          </p:cNvPr>
          <p:cNvSpPr txBox="1"/>
          <p:nvPr/>
        </p:nvSpPr>
        <p:spPr>
          <a:xfrm>
            <a:off x="812800" y="5829299"/>
            <a:ext cx="10566400" cy="431800"/>
          </a:xfrm>
          <a:prstGeom prst="rect">
            <a:avLst/>
          </a:prstGeom>
          <a:noFill/>
        </p:spPr>
        <p:txBody>
          <a:bodyPr vert="horz" wrap="square" lIns="0" tIns="0" rIns="0" bIns="0" rtlCol="0">
            <a:noAutofit/>
          </a:bodyPr>
          <a:lstStyle/>
          <a:p>
            <a:r>
              <a:rPr lang="en-US" sz="2200" b="1">
                <a:solidFill>
                  <a:srgbClr val="F41F30"/>
                </a:solidFill>
                <a:latin typeface="Arial" panose="020B0604020202020204" pitchFamily="34" charset="0"/>
              </a:rPr>
              <a:t>20% fewer sales: INR 20,000 to INR 14,000 surplus</a:t>
            </a:r>
            <a:endParaRPr lang="en-IN" sz="2200" b="1">
              <a:solidFill>
                <a:srgbClr val="F41F30"/>
              </a:solidFill>
              <a:latin typeface="Arial" panose="020B0604020202020204" pitchFamily="34" charset="0"/>
            </a:endParaRPr>
          </a:p>
        </p:txBody>
      </p:sp>
      <p:sp>
        <p:nvSpPr>
          <p:cNvPr id="15" name="Content 15">
            <a:extLst>
              <a:ext uri="{FF2B5EF4-FFF2-40B4-BE49-F238E27FC236}">
                <a16:creationId xmlns:a16="http://schemas.microsoft.com/office/drawing/2014/main" id="{2ABD5B32-A042-61F2-FCBC-0C9B6AAD690F}"/>
              </a:ext>
            </a:extLst>
          </p:cNvPr>
          <p:cNvSpPr txBox="1"/>
          <p:nvPr/>
        </p:nvSpPr>
        <p:spPr>
          <a:xfrm>
            <a:off x="812800" y="6311900"/>
            <a:ext cx="10541000" cy="266700"/>
          </a:xfrm>
          <a:prstGeom prst="rect">
            <a:avLst/>
          </a:prstGeom>
          <a:noFill/>
        </p:spPr>
        <p:txBody>
          <a:bodyPr vert="horz" wrap="square" lIns="0" tIns="0" rIns="0" bIns="0" rtlCol="0">
            <a:noAutofit/>
          </a:bodyPr>
          <a:lstStyle/>
          <a:p>
            <a:r>
              <a:rPr lang="en-US" sz="1300">
                <a:solidFill>
                  <a:srgbClr val="555E68"/>
                </a:solidFill>
                <a:latin typeface="Arial" panose="020B0604020202020204" pitchFamily="34" charset="0"/>
              </a:rPr>
              <a:t>Illustrative assumptions, not a demand forecast</a:t>
            </a:r>
            <a:endParaRPr lang="en-IN" sz="1300">
              <a:solidFill>
                <a:srgbClr val="555E68"/>
              </a:solidFill>
              <a:latin typeface="Arial" panose="020B0604020202020204" pitchFamily="34" charset="0"/>
            </a:endParaRPr>
          </a:p>
        </p:txBody>
      </p:sp>
    </p:spTree>
    <p:extLst>
      <p:ext uri="{BB962C8B-B14F-4D97-AF65-F5344CB8AC3E}">
        <p14:creationId xmlns:p14="http://schemas.microsoft.com/office/powerpoint/2010/main" val="38235912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90160-F48C-3EF0-90EB-42B518A7EA4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F9963C4-640E-B99F-84CE-47C5991441AD}"/>
              </a:ext>
            </a:extLst>
          </p:cNvPr>
          <p:cNvSpPr txBox="1"/>
          <p:nvPr/>
        </p:nvSpPr>
        <p:spPr>
          <a:xfrm>
            <a:off x="3048000" y="3246792"/>
            <a:ext cx="6096000" cy="369332"/>
          </a:xfrm>
          <a:prstGeom prst="rect">
            <a:avLst/>
          </a:prstGeom>
          <a:noFill/>
        </p:spPr>
        <p:txBody>
          <a:bodyPr wrap="square">
            <a:spAutoFit/>
          </a:bodyPr>
          <a:lstStyle/>
          <a:p>
            <a:endParaRPr lang="en-IN"/>
          </a:p>
        </p:txBody>
      </p:sp>
      <p:pic>
        <p:nvPicPr>
          <p:cNvPr id="11" name="Picture 10">
            <a:extLst>
              <a:ext uri="{FF2B5EF4-FFF2-40B4-BE49-F238E27FC236}">
                <a16:creationId xmlns:a16="http://schemas.microsoft.com/office/drawing/2014/main" id="{DB9D04CD-2FE2-89F9-E43B-A3F85DE98C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71625"/>
            <a:ext cx="10359597" cy="5186375"/>
          </a:xfrm>
          <a:prstGeom prst="rect">
            <a:avLst/>
          </a:prstGeom>
        </p:spPr>
      </p:pic>
      <p:pic>
        <p:nvPicPr>
          <p:cNvPr id="3" name="Picture 2">
            <a:extLst>
              <a:ext uri="{FF2B5EF4-FFF2-40B4-BE49-F238E27FC236}">
                <a16:creationId xmlns:a16="http://schemas.microsoft.com/office/drawing/2014/main" id="{D397287F-EEFE-C3E3-B098-575DCA1F36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913" y="-1"/>
            <a:ext cx="3342967" cy="1671625"/>
          </a:xfrm>
          <a:prstGeom prst="rect">
            <a:avLst/>
          </a:prstGeom>
        </p:spPr>
      </p:pic>
      <p:pic>
        <p:nvPicPr>
          <p:cNvPr id="14" name="Picture 13">
            <a:extLst>
              <a:ext uri="{FF2B5EF4-FFF2-40B4-BE49-F238E27FC236}">
                <a16:creationId xmlns:a16="http://schemas.microsoft.com/office/drawing/2014/main" id="{20E906A9-8B5C-EF5C-DBE6-D4F05F1AB2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09095" y="231127"/>
            <a:ext cx="1209368" cy="1209368"/>
          </a:xfrm>
          <a:prstGeom prst="rect">
            <a:avLst/>
          </a:prstGeom>
        </p:spPr>
      </p:pic>
      <p:pic>
        <p:nvPicPr>
          <p:cNvPr id="16" name="Picture 15">
            <a:extLst>
              <a:ext uri="{FF2B5EF4-FFF2-40B4-BE49-F238E27FC236}">
                <a16:creationId xmlns:a16="http://schemas.microsoft.com/office/drawing/2014/main" id="{0DC2B2F2-6DB0-B09F-56FA-21743067EF4A}"/>
              </a:ext>
            </a:extLst>
          </p:cNvPr>
          <p:cNvPicPr>
            <a:picLocks noChangeAspect="1"/>
          </p:cNvPicPr>
          <p:nvPr/>
        </p:nvPicPr>
        <p:blipFill>
          <a:blip r:embed="rId6">
            <a:extLst>
              <a:ext uri="{28A0092B-C50C-407E-A947-70E740481C1C}">
                <a14:useLocalDpi xmlns:a14="http://schemas.microsoft.com/office/drawing/2010/main" val="0"/>
              </a:ext>
            </a:extLst>
          </a:blip>
          <a:srcRect t="15233" b="12420"/>
          <a:stretch>
            <a:fillRect/>
          </a:stretch>
        </p:blipFill>
        <p:spPr>
          <a:xfrm>
            <a:off x="8869852" y="176938"/>
            <a:ext cx="1710813" cy="1209369"/>
          </a:xfrm>
          <a:prstGeom prst="rect">
            <a:avLst/>
          </a:prstGeom>
        </p:spPr>
      </p:pic>
      <p:pic>
        <p:nvPicPr>
          <p:cNvPr id="18" name="Picture 17">
            <a:extLst>
              <a:ext uri="{FF2B5EF4-FFF2-40B4-BE49-F238E27FC236}">
                <a16:creationId xmlns:a16="http://schemas.microsoft.com/office/drawing/2014/main" id="{1F610CE9-8859-3F8E-7C7B-EBA75E85CFF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00629" y="-75234"/>
            <a:ext cx="3640793" cy="1822089"/>
          </a:xfrm>
          <a:prstGeom prst="rect">
            <a:avLst/>
          </a:prstGeom>
        </p:spPr>
      </p:pic>
      <p:sp>
        <p:nvSpPr>
          <p:cNvPr id="4" name="TextBox 3">
            <a:extLst>
              <a:ext uri="{FF2B5EF4-FFF2-40B4-BE49-F238E27FC236}">
                <a16:creationId xmlns:a16="http://schemas.microsoft.com/office/drawing/2014/main" id="{F78793A4-DEEC-BA53-EA8C-EDC505709F99}"/>
              </a:ext>
            </a:extLst>
          </p:cNvPr>
          <p:cNvSpPr txBox="1"/>
          <p:nvPr/>
        </p:nvSpPr>
        <p:spPr>
          <a:xfrm>
            <a:off x="635000" y="1320800"/>
            <a:ext cx="10922000" cy="492443"/>
          </a:xfrm>
          <a:prstGeom prst="rect">
            <a:avLst/>
          </a:prstGeom>
          <a:noFill/>
        </p:spPr>
        <p:txBody>
          <a:bodyPr wrap="square" lIns="0" rIns="0">
            <a:spAutoFit/>
          </a:bodyPr>
          <a:lstStyle/>
          <a:p>
            <a:pPr algn="ctr"/>
            <a:r>
              <a:rPr lang="en-IN" sz="2600" b="1">
                <a:solidFill>
                  <a:srgbClr val="000000"/>
                </a:solidFill>
                <a:latin typeface="Times New Roman" panose="02020603050405020304" pitchFamily="18" charset="0"/>
                <a:cs typeface="Times New Roman" panose="02020603050405020304" pitchFamily="18" charset="0"/>
              </a:rPr>
              <a:t>CONCLUSION</a:t>
            </a:r>
            <a:endParaRPr lang="en-IN" sz="2600" b="1" dirty="0">
              <a:solidFill>
                <a:srgbClr val="000000"/>
              </a:solidFill>
              <a:latin typeface="Times New Roman" panose="02020603050405020304" pitchFamily="18" charset="0"/>
              <a:cs typeface="Times New Roman" panose="02020603050405020304" pitchFamily="18" charset="0"/>
            </a:endParaRPr>
          </a:p>
        </p:txBody>
      </p:sp>
      <p:sp>
        <p:nvSpPr>
          <p:cNvPr id="2" name="Content 8">
            <a:extLst>
              <a:ext uri="{FF2B5EF4-FFF2-40B4-BE49-F238E27FC236}">
                <a16:creationId xmlns:a16="http://schemas.microsoft.com/office/drawing/2014/main" id="{DCB5EEF7-787D-0336-FCF0-F485239456FB}"/>
              </a:ext>
            </a:extLst>
          </p:cNvPr>
          <p:cNvSpPr txBox="1"/>
          <p:nvPr/>
        </p:nvSpPr>
        <p:spPr>
          <a:xfrm>
            <a:off x="825500" y="2285999"/>
            <a:ext cx="10541000" cy="685800"/>
          </a:xfrm>
          <a:prstGeom prst="rect">
            <a:avLst/>
          </a:prstGeom>
          <a:noFill/>
        </p:spPr>
        <p:txBody>
          <a:bodyPr vert="horz" wrap="square" lIns="0" tIns="0" rIns="0" bIns="0" rtlCol="0">
            <a:noAutofit/>
          </a:bodyPr>
          <a:lstStyle/>
          <a:p>
            <a:r>
              <a:rPr lang="en-IN" sz="3600" b="1">
                <a:solidFill>
                  <a:srgbClr val="182231"/>
                </a:solidFill>
                <a:latin typeface="Arial" panose="020B0604020202020204" pitchFamily="34" charset="0"/>
              </a:rPr>
              <a:t>A reviewable assessment,</a:t>
            </a:r>
          </a:p>
        </p:txBody>
      </p:sp>
      <p:sp>
        <p:nvSpPr>
          <p:cNvPr id="6" name="Content 9">
            <a:extLst>
              <a:ext uri="{FF2B5EF4-FFF2-40B4-BE49-F238E27FC236}">
                <a16:creationId xmlns:a16="http://schemas.microsoft.com/office/drawing/2014/main" id="{665FC9FE-365F-0B0E-B61E-8B46E3EE7655}"/>
              </a:ext>
            </a:extLst>
          </p:cNvPr>
          <p:cNvSpPr txBox="1"/>
          <p:nvPr/>
        </p:nvSpPr>
        <p:spPr>
          <a:xfrm>
            <a:off x="825500" y="3035299"/>
            <a:ext cx="10541000" cy="685800"/>
          </a:xfrm>
          <a:prstGeom prst="rect">
            <a:avLst/>
          </a:prstGeom>
          <a:noFill/>
        </p:spPr>
        <p:txBody>
          <a:bodyPr vert="horz" wrap="square" lIns="0" tIns="0" rIns="0" bIns="0" rtlCol="0">
            <a:noAutofit/>
          </a:bodyPr>
          <a:lstStyle/>
          <a:p>
            <a:r>
              <a:rPr lang="en-IN" sz="3600" b="1">
                <a:solidFill>
                  <a:srgbClr val="F41F30"/>
                </a:solidFill>
                <a:latin typeface="Arial" panose="020B0604020202020204" pitchFamily="34" charset="0"/>
              </a:rPr>
              <a:t>with unknowns visible</a:t>
            </a:r>
          </a:p>
        </p:txBody>
      </p:sp>
      <p:sp>
        <p:nvSpPr>
          <p:cNvPr id="7" name="Content 10">
            <a:extLst>
              <a:ext uri="{FF2B5EF4-FFF2-40B4-BE49-F238E27FC236}">
                <a16:creationId xmlns:a16="http://schemas.microsoft.com/office/drawing/2014/main" id="{FAFBC826-4722-AC68-12BC-290DAFFBEE75}"/>
              </a:ext>
            </a:extLst>
          </p:cNvPr>
          <p:cNvSpPr txBox="1"/>
          <p:nvPr/>
        </p:nvSpPr>
        <p:spPr>
          <a:xfrm>
            <a:off x="850900" y="4203699"/>
            <a:ext cx="10541000" cy="482600"/>
          </a:xfrm>
          <a:prstGeom prst="rect">
            <a:avLst/>
          </a:prstGeom>
          <a:noFill/>
        </p:spPr>
        <p:txBody>
          <a:bodyPr vert="horz" wrap="square" lIns="0" tIns="0" rIns="0" bIns="0" rtlCol="0">
            <a:noAutofit/>
          </a:bodyPr>
          <a:lstStyle/>
          <a:p>
            <a:r>
              <a:rPr lang="en-US" sz="2500">
                <a:solidFill>
                  <a:srgbClr val="555E68"/>
                </a:solidFill>
                <a:latin typeface="Arial" panose="020B0604020202020204" pitchFamily="34" charset="0"/>
              </a:rPr>
              <a:t>Evidence and focused follow-up questions</a:t>
            </a:r>
            <a:endParaRPr lang="en-IN" sz="2500">
              <a:solidFill>
                <a:srgbClr val="555E68"/>
              </a:solidFill>
              <a:latin typeface="Arial" panose="020B0604020202020204" pitchFamily="34" charset="0"/>
            </a:endParaRPr>
          </a:p>
        </p:txBody>
      </p:sp>
      <p:sp>
        <p:nvSpPr>
          <p:cNvPr id="8" name="Content 11">
            <a:extLst>
              <a:ext uri="{FF2B5EF4-FFF2-40B4-BE49-F238E27FC236}">
                <a16:creationId xmlns:a16="http://schemas.microsoft.com/office/drawing/2014/main" id="{C817F61C-FB7C-AD22-E561-F459977ADD6F}"/>
              </a:ext>
            </a:extLst>
          </p:cNvPr>
          <p:cNvSpPr txBox="1"/>
          <p:nvPr/>
        </p:nvSpPr>
        <p:spPr>
          <a:xfrm>
            <a:off x="850900" y="4825999"/>
            <a:ext cx="10541000" cy="482600"/>
          </a:xfrm>
          <a:prstGeom prst="rect">
            <a:avLst/>
          </a:prstGeom>
          <a:noFill/>
        </p:spPr>
        <p:txBody>
          <a:bodyPr vert="horz" wrap="square" lIns="0" tIns="0" rIns="0" bIns="0" rtlCol="0">
            <a:noAutofit/>
          </a:bodyPr>
          <a:lstStyle/>
          <a:p>
            <a:r>
              <a:rPr lang="en-US" sz="2500">
                <a:solidFill>
                  <a:srgbClr val="555E68"/>
                </a:solidFill>
                <a:latin typeface="Arial" panose="020B0604020202020204" pitchFamily="34" charset="0"/>
              </a:rPr>
              <a:t>Comparisons, planning and human review</a:t>
            </a:r>
            <a:endParaRPr lang="en-IN" sz="2500">
              <a:solidFill>
                <a:srgbClr val="555E68"/>
              </a:solidFill>
              <a:latin typeface="Arial" panose="020B0604020202020204" pitchFamily="34" charset="0"/>
            </a:endParaRPr>
          </a:p>
        </p:txBody>
      </p:sp>
      <p:sp>
        <p:nvSpPr>
          <p:cNvPr id="9" name="Content 12">
            <a:extLst>
              <a:ext uri="{FF2B5EF4-FFF2-40B4-BE49-F238E27FC236}">
                <a16:creationId xmlns:a16="http://schemas.microsoft.com/office/drawing/2014/main" id="{0044444D-EBC4-A89D-0BA8-D62562C77528}"/>
              </a:ext>
            </a:extLst>
          </p:cNvPr>
          <p:cNvSpPr txBox="1"/>
          <p:nvPr/>
        </p:nvSpPr>
        <p:spPr>
          <a:xfrm>
            <a:off x="850900" y="5918199"/>
            <a:ext cx="10541000" cy="431800"/>
          </a:xfrm>
          <a:prstGeom prst="rect">
            <a:avLst/>
          </a:prstGeom>
          <a:noFill/>
        </p:spPr>
        <p:txBody>
          <a:bodyPr vert="horz" wrap="square" lIns="0" tIns="0" rIns="0" bIns="0" rtlCol="0">
            <a:noAutofit/>
          </a:bodyPr>
          <a:lstStyle/>
          <a:p>
            <a:r>
              <a:rPr lang="en-US" sz="2100" b="1">
                <a:solidFill>
                  <a:srgbClr val="182231"/>
                </a:solidFill>
                <a:latin typeface="Arial" panose="020B0604020202020204" pitchFamily="34" charset="0"/>
              </a:rPr>
              <a:t>Next: independent evaluation and an assessor pilot</a:t>
            </a:r>
            <a:endParaRPr lang="en-IN" sz="2100" b="1">
              <a:solidFill>
                <a:srgbClr val="182231"/>
              </a:solidFill>
              <a:latin typeface="Arial" panose="020B0604020202020204" pitchFamily="34" charset="0"/>
            </a:endParaRPr>
          </a:p>
        </p:txBody>
      </p:sp>
    </p:spTree>
    <p:extLst>
      <p:ext uri="{BB962C8B-B14F-4D97-AF65-F5344CB8AC3E}">
        <p14:creationId xmlns:p14="http://schemas.microsoft.com/office/powerpoint/2010/main" val="3621072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C4F18-C7C5-25E4-908E-302A3B01DCA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A9D77D6-F5E8-AAC2-0E67-539433CC6664}"/>
              </a:ext>
            </a:extLst>
          </p:cNvPr>
          <p:cNvSpPr txBox="1"/>
          <p:nvPr/>
        </p:nvSpPr>
        <p:spPr>
          <a:xfrm>
            <a:off x="3048000" y="3246792"/>
            <a:ext cx="6096000" cy="369332"/>
          </a:xfrm>
          <a:prstGeom prst="rect">
            <a:avLst/>
          </a:prstGeom>
          <a:noFill/>
        </p:spPr>
        <p:txBody>
          <a:bodyPr wrap="square">
            <a:spAutoFit/>
          </a:bodyPr>
          <a:lstStyle/>
          <a:p>
            <a:endParaRPr lang="en-IN"/>
          </a:p>
        </p:txBody>
      </p:sp>
      <p:pic>
        <p:nvPicPr>
          <p:cNvPr id="11" name="Picture 10">
            <a:extLst>
              <a:ext uri="{FF2B5EF4-FFF2-40B4-BE49-F238E27FC236}">
                <a16:creationId xmlns:a16="http://schemas.microsoft.com/office/drawing/2014/main" id="{55C23323-5BAC-59CC-619F-E0BA2A47A47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671625"/>
            <a:ext cx="10359597" cy="5186375"/>
          </a:xfrm>
          <a:prstGeom prst="rect">
            <a:avLst/>
          </a:prstGeom>
        </p:spPr>
      </p:pic>
      <p:pic>
        <p:nvPicPr>
          <p:cNvPr id="3" name="Picture 2">
            <a:extLst>
              <a:ext uri="{FF2B5EF4-FFF2-40B4-BE49-F238E27FC236}">
                <a16:creationId xmlns:a16="http://schemas.microsoft.com/office/drawing/2014/main" id="{0A196132-F602-00B0-E6CD-186C5B62092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8913" y="-1"/>
            <a:ext cx="3342967" cy="1671625"/>
          </a:xfrm>
          <a:prstGeom prst="rect">
            <a:avLst/>
          </a:prstGeom>
        </p:spPr>
      </p:pic>
      <p:pic>
        <p:nvPicPr>
          <p:cNvPr id="14" name="Picture 13">
            <a:extLst>
              <a:ext uri="{FF2B5EF4-FFF2-40B4-BE49-F238E27FC236}">
                <a16:creationId xmlns:a16="http://schemas.microsoft.com/office/drawing/2014/main" id="{EBCA599C-D996-1DA7-71DC-A668B5247A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809095" y="231127"/>
            <a:ext cx="1209368" cy="1209368"/>
          </a:xfrm>
          <a:prstGeom prst="rect">
            <a:avLst/>
          </a:prstGeom>
        </p:spPr>
      </p:pic>
      <p:pic>
        <p:nvPicPr>
          <p:cNvPr id="16" name="Picture 15">
            <a:extLst>
              <a:ext uri="{FF2B5EF4-FFF2-40B4-BE49-F238E27FC236}">
                <a16:creationId xmlns:a16="http://schemas.microsoft.com/office/drawing/2014/main" id="{4A8F8822-96BA-4138-9686-32DE554E4375}"/>
              </a:ext>
            </a:extLst>
          </p:cNvPr>
          <p:cNvPicPr>
            <a:picLocks noChangeAspect="1"/>
          </p:cNvPicPr>
          <p:nvPr/>
        </p:nvPicPr>
        <p:blipFill>
          <a:blip r:embed="rId6">
            <a:extLst>
              <a:ext uri="{28A0092B-C50C-407E-A947-70E740481C1C}">
                <a14:useLocalDpi xmlns:a14="http://schemas.microsoft.com/office/drawing/2010/main" val="0"/>
              </a:ext>
            </a:extLst>
          </a:blip>
          <a:srcRect t="15233" b="12420"/>
          <a:stretch>
            <a:fillRect/>
          </a:stretch>
        </p:blipFill>
        <p:spPr>
          <a:xfrm>
            <a:off x="8869852" y="176938"/>
            <a:ext cx="1710813" cy="1209369"/>
          </a:xfrm>
          <a:prstGeom prst="rect">
            <a:avLst/>
          </a:prstGeom>
        </p:spPr>
      </p:pic>
      <p:pic>
        <p:nvPicPr>
          <p:cNvPr id="18" name="Picture 17">
            <a:extLst>
              <a:ext uri="{FF2B5EF4-FFF2-40B4-BE49-F238E27FC236}">
                <a16:creationId xmlns:a16="http://schemas.microsoft.com/office/drawing/2014/main" id="{3D7EEC3C-2E44-AF5E-620B-D8DE99D2081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000629" y="-75234"/>
            <a:ext cx="3640793" cy="1822089"/>
          </a:xfrm>
          <a:prstGeom prst="rect">
            <a:avLst/>
          </a:prstGeom>
        </p:spPr>
      </p:pic>
      <p:sp>
        <p:nvSpPr>
          <p:cNvPr id="2" name="TextBox 1">
            <a:extLst>
              <a:ext uri="{FF2B5EF4-FFF2-40B4-BE49-F238E27FC236}">
                <a16:creationId xmlns:a16="http://schemas.microsoft.com/office/drawing/2014/main" id="{F7A42D71-E47A-1CA2-AE86-872B68DBCD6A}"/>
              </a:ext>
            </a:extLst>
          </p:cNvPr>
          <p:cNvSpPr txBox="1"/>
          <p:nvPr/>
        </p:nvSpPr>
        <p:spPr>
          <a:xfrm>
            <a:off x="635000" y="1320800"/>
            <a:ext cx="10922000" cy="492443"/>
          </a:xfrm>
          <a:prstGeom prst="rect">
            <a:avLst/>
          </a:prstGeom>
          <a:noFill/>
        </p:spPr>
        <p:txBody>
          <a:bodyPr wrap="square" lIns="0" rIns="0" rtlCol="0">
            <a:spAutoFit/>
          </a:bodyPr>
          <a:lstStyle/>
          <a:p>
            <a:pPr algn="ctr"/>
            <a:r>
              <a:rPr lang="en-US" sz="2600" b="1">
                <a:solidFill>
                  <a:srgbClr val="000000"/>
                </a:solidFill>
                <a:latin typeface="Times New Roman" panose="02020603050405020304" pitchFamily="18" charset="0"/>
                <a:cs typeface="Times New Roman" panose="02020603050405020304" pitchFamily="18" charset="0"/>
              </a:rPr>
              <a:t>THANK YOU</a:t>
            </a:r>
            <a:endParaRPr lang="en-IN" sz="2600" b="1" dirty="0">
              <a:solidFill>
                <a:srgbClr val="00000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0B4712D-9CDD-A2E7-2E69-493B73332E54}"/>
              </a:ext>
            </a:extLst>
          </p:cNvPr>
          <p:cNvSpPr txBox="1"/>
          <p:nvPr/>
        </p:nvSpPr>
        <p:spPr>
          <a:xfrm>
            <a:off x="4522456" y="3578276"/>
            <a:ext cx="3147088" cy="369332"/>
          </a:xfrm>
          <a:prstGeom prst="rect">
            <a:avLst/>
          </a:prstGeom>
          <a:noFill/>
        </p:spPr>
        <p:txBody>
          <a:bodyPr wrap="square" rtlCol="0">
            <a:spAutoFit/>
          </a:bodyPr>
          <a:lstStyle/>
          <a:p>
            <a:pPr algn="l"/>
            <a:endParaRPr lang="en-US" dirty="0"/>
          </a:p>
        </p:txBody>
      </p:sp>
      <p:sp>
        <p:nvSpPr>
          <p:cNvPr id="6" name="Content 9">
            <a:extLst>
              <a:ext uri="{FF2B5EF4-FFF2-40B4-BE49-F238E27FC236}">
                <a16:creationId xmlns:a16="http://schemas.microsoft.com/office/drawing/2014/main" id="{8FCE3C94-929C-A4F2-268C-3459138E662F}"/>
              </a:ext>
            </a:extLst>
          </p:cNvPr>
          <p:cNvSpPr txBox="1"/>
          <p:nvPr/>
        </p:nvSpPr>
        <p:spPr>
          <a:xfrm>
            <a:off x="825500" y="2412999"/>
            <a:ext cx="10541000" cy="698500"/>
          </a:xfrm>
          <a:prstGeom prst="rect">
            <a:avLst/>
          </a:prstGeom>
          <a:noFill/>
        </p:spPr>
        <p:txBody>
          <a:bodyPr vert="horz" wrap="square" lIns="0" tIns="0" rIns="0" bIns="0" rtlCol="0">
            <a:noAutofit/>
          </a:bodyPr>
          <a:lstStyle/>
          <a:p>
            <a:pPr algn="ctr"/>
            <a:r>
              <a:rPr lang="en-IN" sz="3600" b="1">
                <a:solidFill>
                  <a:srgbClr val="182231"/>
                </a:solidFill>
                <a:latin typeface="Arial" panose="020B0604020202020204" pitchFamily="34" charset="0"/>
              </a:rPr>
              <a:t>Udyam Saathi</a:t>
            </a:r>
          </a:p>
        </p:txBody>
      </p:sp>
      <p:sp>
        <p:nvSpPr>
          <p:cNvPr id="7" name="Content 10">
            <a:extLst>
              <a:ext uri="{FF2B5EF4-FFF2-40B4-BE49-F238E27FC236}">
                <a16:creationId xmlns:a16="http://schemas.microsoft.com/office/drawing/2014/main" id="{A8D85B19-1AD0-DC18-790C-A33EFC7105AC}"/>
              </a:ext>
            </a:extLst>
          </p:cNvPr>
          <p:cNvSpPr txBox="1"/>
          <p:nvPr/>
        </p:nvSpPr>
        <p:spPr>
          <a:xfrm>
            <a:off x="825500" y="3403599"/>
            <a:ext cx="10541000" cy="508000"/>
          </a:xfrm>
          <a:prstGeom prst="rect">
            <a:avLst/>
          </a:prstGeom>
          <a:noFill/>
        </p:spPr>
        <p:txBody>
          <a:bodyPr vert="horz" wrap="square" lIns="0" tIns="0" rIns="0" bIns="0" rtlCol="0">
            <a:noAutofit/>
          </a:bodyPr>
          <a:lstStyle/>
          <a:p>
            <a:pPr algn="ctr"/>
            <a:r>
              <a:rPr lang="en-IN" sz="2800" b="1">
                <a:solidFill>
                  <a:srgbClr val="F41F30"/>
                </a:solidFill>
                <a:latin typeface="Arial" panose="020B0604020202020204" pitchFamily="34" charset="0"/>
              </a:rPr>
              <a:t>Straw Hat Pirates</a:t>
            </a:r>
          </a:p>
        </p:txBody>
      </p:sp>
      <p:sp>
        <p:nvSpPr>
          <p:cNvPr id="8" name="Content 11">
            <a:extLst>
              <a:ext uri="{FF2B5EF4-FFF2-40B4-BE49-F238E27FC236}">
                <a16:creationId xmlns:a16="http://schemas.microsoft.com/office/drawing/2014/main" id="{217ABAC4-A7D7-0438-4CDE-8CE3BC567D2F}"/>
              </a:ext>
            </a:extLst>
          </p:cNvPr>
          <p:cNvSpPr txBox="1"/>
          <p:nvPr/>
        </p:nvSpPr>
        <p:spPr>
          <a:xfrm>
            <a:off x="825500" y="4190999"/>
            <a:ext cx="10541000" cy="1016000"/>
          </a:xfrm>
          <a:prstGeom prst="rect">
            <a:avLst/>
          </a:prstGeom>
          <a:noFill/>
        </p:spPr>
        <p:txBody>
          <a:bodyPr vert="horz" wrap="square" lIns="0" tIns="0" rIns="0" bIns="0" rtlCol="0">
            <a:noAutofit/>
          </a:bodyPr>
          <a:lstStyle/>
          <a:p>
            <a:pPr algn="ctr"/>
            <a:r>
              <a:rPr lang="en-IN" sz="2300">
                <a:solidFill>
                  <a:srgbClr val="182231"/>
                </a:solidFill>
                <a:latin typeface="Arial" panose="020B0604020202020204" pitchFamily="34" charset="0"/>
              </a:rPr>
              <a:t>Kartik Verma     Kushal Soni
Bhavana Suthar     Kanav Trivedi</a:t>
            </a:r>
          </a:p>
        </p:txBody>
      </p:sp>
      <p:sp>
        <p:nvSpPr>
          <p:cNvPr id="9" name="Content 12">
            <a:extLst>
              <a:ext uri="{FF2B5EF4-FFF2-40B4-BE49-F238E27FC236}">
                <a16:creationId xmlns:a16="http://schemas.microsoft.com/office/drawing/2014/main" id="{383A4B8B-C7E0-9C7C-900C-4946BEC7C189}"/>
              </a:ext>
            </a:extLst>
          </p:cNvPr>
          <p:cNvSpPr txBox="1"/>
          <p:nvPr/>
        </p:nvSpPr>
        <p:spPr>
          <a:xfrm>
            <a:off x="825500" y="5714999"/>
            <a:ext cx="10541000" cy="571500"/>
          </a:xfrm>
          <a:prstGeom prst="rect">
            <a:avLst/>
          </a:prstGeom>
          <a:noFill/>
        </p:spPr>
        <p:txBody>
          <a:bodyPr vert="horz" wrap="square" lIns="0" tIns="0" rIns="0" bIns="0" rtlCol="0">
            <a:noAutofit/>
          </a:bodyPr>
          <a:lstStyle/>
          <a:p>
            <a:pPr algn="ctr"/>
            <a:r>
              <a:rPr lang="en-IN" sz="2800" b="1">
                <a:solidFill>
                  <a:srgbClr val="182231"/>
                </a:solidFill>
                <a:latin typeface="Arial" panose="020B0604020202020204" pitchFamily="34" charset="0"/>
              </a:rPr>
              <a:t>Questions?</a:t>
            </a:r>
          </a:p>
        </p:txBody>
      </p:sp>
    </p:spTree>
    <p:extLst>
      <p:ext uri="{BB962C8B-B14F-4D97-AF65-F5344CB8AC3E}">
        <p14:creationId xmlns:p14="http://schemas.microsoft.com/office/powerpoint/2010/main" val="9836860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1704</Words>
  <Application>Microsoft Office PowerPoint</Application>
  <PresentationFormat>Widescreen</PresentationFormat>
  <Paragraphs>107</Paragraphs>
  <Slides>9</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COMP_FY_B_62_23/24_VERMA_KARTIK</cp:lastModifiedBy>
  <cp:revision>1</cp:revision>
  <dcterms:modified xsi:type="dcterms:W3CDTF">2026-10-18T08:14:31Z</dcterms:modified>
</cp:coreProperties>
</file>